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115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137160" cy="3200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0">
                <a:solidFill>
                  <a:srgbClr val="FFFFFF"/>
                </a:solidFill>
                <a:latin typeface="Calibri"/>
              </a:defRPr>
            </a:pPr>
            <a:r>
              <a:rPr dirty="0"/>
              <a:t>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1">
                <a:solidFill>
                  <a:srgbClr val="0D9488"/>
                </a:solidFill>
                <a:latin typeface="Calibri"/>
              </a:defRPr>
            </a:pPr>
            <a:r>
              <a:rPr dirty="0"/>
              <a:t>Sanad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59E0B"/>
                </a:solidFill>
                <a:latin typeface="Calibri"/>
              </a:defRPr>
            </a:pPr>
            <a:r>
              <a:t>Smart Elderly Care Management System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383280"/>
            <a:ext cx="3657600" cy="36576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3657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rPr dirty="0"/>
              <a:t>Graduation Project — Academic Year 2025–2026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14800"/>
            <a:ext cx="9144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94A3B8"/>
                </a:solidFill>
                <a:latin typeface="Calibri"/>
              </a:defRPr>
            </a:pPr>
            <a:r>
              <a:rPr dirty="0"/>
              <a:t>Supervised by: </a:t>
            </a:r>
            <a:r>
              <a:rPr lang="en-US" sz="1600" b="1" dirty="0"/>
              <a:t>Dr. Mai El </a:t>
            </a:r>
            <a:r>
              <a:rPr lang="en-US" sz="1600" b="1" dirty="0" err="1"/>
              <a:t>Defrawi</a:t>
            </a:r>
            <a:endParaRPr lang="en-US" sz="1600" b="1" dirty="0"/>
          </a:p>
        </p:txBody>
      </p:sp>
      <p:sp>
        <p:nvSpPr>
          <p:cNvPr id="10" name="Rounded Rectangle 9"/>
          <p:cNvSpPr/>
          <p:nvPr/>
        </p:nvSpPr>
        <p:spPr>
          <a:xfrm>
            <a:off x="914400" y="5029200"/>
            <a:ext cx="1691640" cy="594360"/>
          </a:xfrm>
          <a:prstGeom prst="roundRect">
            <a:avLst/>
          </a:prstGeom>
          <a:solidFill>
            <a:srgbClr val="27374D"/>
          </a:solidFill>
          <a:ln w="127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5138928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rPr dirty="0"/>
              <a:t>Anton Farid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15768" y="5029200"/>
            <a:ext cx="1691640" cy="594360"/>
          </a:xfrm>
          <a:prstGeom prst="roundRect">
            <a:avLst/>
          </a:prstGeom>
          <a:solidFill>
            <a:srgbClr val="27374D"/>
          </a:solidFill>
          <a:ln w="127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807208" y="5138928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rPr dirty="0"/>
              <a:t>Haidy Medhat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17136" y="5029200"/>
            <a:ext cx="1691640" cy="594360"/>
          </a:xfrm>
          <a:prstGeom prst="roundRect">
            <a:avLst/>
          </a:prstGeom>
          <a:solidFill>
            <a:srgbClr val="27374D"/>
          </a:solidFill>
          <a:ln w="127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08576" y="5138928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rPr dirty="0"/>
              <a:t>Maryam </a:t>
            </a:r>
            <a:r>
              <a:rPr dirty="0" err="1"/>
              <a:t>Elghazaly</a:t>
            </a:r>
            <a:endParaRPr dirty="0"/>
          </a:p>
        </p:txBody>
      </p:sp>
      <p:sp>
        <p:nvSpPr>
          <p:cNvPr id="16" name="Rounded Rectangle 15"/>
          <p:cNvSpPr/>
          <p:nvPr/>
        </p:nvSpPr>
        <p:spPr>
          <a:xfrm>
            <a:off x="6318504" y="5029200"/>
            <a:ext cx="1691640" cy="594360"/>
          </a:xfrm>
          <a:prstGeom prst="roundRect">
            <a:avLst/>
          </a:prstGeom>
          <a:solidFill>
            <a:srgbClr val="27374D"/>
          </a:solidFill>
          <a:ln w="127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9944" y="5138928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Abdelrhman Reda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5029200"/>
            <a:ext cx="1691640" cy="594360"/>
          </a:xfrm>
          <a:prstGeom prst="roundRect">
            <a:avLst/>
          </a:prstGeom>
          <a:solidFill>
            <a:srgbClr val="27374D"/>
          </a:solidFill>
          <a:ln w="127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11312" y="5089267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rPr dirty="0"/>
              <a:t>Mahmoud Mohammed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921240" y="5029200"/>
            <a:ext cx="1691640" cy="594360"/>
          </a:xfrm>
          <a:prstGeom prst="roundRect">
            <a:avLst/>
          </a:prstGeom>
          <a:solidFill>
            <a:srgbClr val="27374D"/>
          </a:solidFill>
          <a:ln w="127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012680" y="5138928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Abdallah Essam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1/25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93B"/>
                </a:solidFill>
                <a:latin typeface="Calibri"/>
              </a:defRPr>
            </a:pPr>
            <a:r>
              <a:t>The Problem We're Solving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2/25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Section 1 — Problem Definition  |  Anton Farid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914400"/>
            <a:ext cx="137160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40080" y="1280160"/>
            <a:ext cx="10972800" cy="91440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513805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A6E65"/>
                </a:solidFill>
                <a:latin typeface="Calibri"/>
              </a:defRPr>
            </a:pPr>
            <a:r>
              <a:rPr dirty="0"/>
              <a:t>🌍  By 2050, 1 in 6 people worldwide will be over age 65 — WHO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468880"/>
            <a:ext cx="64008" cy="54864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45059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293B"/>
                </a:solidFill>
                <a:latin typeface="Calibri"/>
              </a:defRPr>
            </a:pPr>
            <a:r>
              <a:rPr dirty="0"/>
              <a:t>❌  Paper-based Health Tracking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76148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Calibri"/>
              </a:defRPr>
            </a:pPr>
            <a:r>
              <a:t>Manual records lead to errors, delays, and data loss in care facilities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246120"/>
            <a:ext cx="64008" cy="54864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32278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293B"/>
                </a:solidFill>
                <a:latin typeface="Calibri"/>
              </a:defRPr>
            </a:pPr>
            <a:r>
              <a:rPr dirty="0"/>
              <a:t>❌  No Early Warning System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5387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Calibri"/>
              </a:defRPr>
            </a:pPr>
            <a:r>
              <a:t>Health crises go undetected — no predictive or real-time alert mechanisms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023360"/>
            <a:ext cx="64008" cy="54864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400507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293B"/>
                </a:solidFill>
                <a:latin typeface="Calibri"/>
              </a:defRPr>
            </a:pPr>
            <a:r>
              <a:rPr dirty="0"/>
              <a:t>❌  Disconnected Families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3159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Calibri"/>
              </a:defRPr>
            </a:pPr>
            <a:r>
              <a:rPr dirty="0"/>
              <a:t>Families lack transparency and real-time updates about their loved ones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800600"/>
            <a:ext cx="64008" cy="54864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478231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293B"/>
                </a:solidFill>
                <a:latin typeface="Calibri"/>
              </a:defRPr>
            </a:pPr>
            <a:r>
              <a:rPr dirty="0"/>
              <a:t>❌  Manual Shift Scheduling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09320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Calibri"/>
              </a:defRPr>
            </a:pPr>
            <a:r>
              <a:t>Inefficient workforce management with paper-based shift assignments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5577840"/>
            <a:ext cx="64008" cy="54864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555955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293B"/>
                </a:solidFill>
                <a:latin typeface="Calibri"/>
              </a:defRPr>
            </a:pPr>
            <a:r>
              <a:t>❌  Generic Meal Plans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87044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Calibri"/>
              </a:defRPr>
            </a:pPr>
            <a:r>
              <a:t>No personalized nutrition — allergies &amp; medical conditions are ignored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93B"/>
                </a:solidFill>
                <a:latin typeface="Calibri"/>
              </a:defRPr>
            </a:pPr>
            <a:r>
              <a:t>Project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3/25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Section 1 — Problem Definition  |  Anton Farid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914400"/>
            <a:ext cx="137160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411480" cy="41148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399032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E293B"/>
                </a:solidFill>
                <a:latin typeface="Calibri"/>
              </a:defRPr>
            </a:pPr>
            <a:r>
              <a:rPr dirty="0"/>
              <a:t>🏥  Digitize daily elderly care operations (health tracking, reports, schedules)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057400"/>
            <a:ext cx="411480" cy="41148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084832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E293B"/>
                </a:solidFill>
                <a:latin typeface="Calibri"/>
              </a:defRPr>
            </a:pPr>
            <a:r>
              <a:t>🤖  Integrate AI for predictive health risk assessment &amp; early warnings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743200"/>
            <a:ext cx="411480" cy="41148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770632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E293B"/>
                </a:solidFill>
                <a:latin typeface="Calibri"/>
              </a:defRPr>
            </a:pPr>
            <a:r>
              <a:t>🍽️  Provide ML-powered personalized dietary recommendations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429000"/>
            <a:ext cx="411480" cy="41148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456432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E293B"/>
                </a:solidFill>
                <a:latin typeface="Calibri"/>
              </a:defRPr>
            </a:pPr>
            <a:r>
              <a:rPr dirty="0"/>
              <a:t>📝  Automate clinical report generation using Generative AI (Google Gemini)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114800"/>
            <a:ext cx="411480" cy="41148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4142232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E293B"/>
                </a:solidFill>
                <a:latin typeface="Calibri"/>
              </a:defRPr>
            </a:pPr>
            <a:r>
              <a:t>👨‍👩‍👧  Empower families with real-time updates and visit management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800600"/>
            <a:ext cx="411480" cy="41148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defRPr sz="16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828032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E293B"/>
                </a:solidFill>
                <a:latin typeface="Calibri"/>
              </a:defRPr>
            </a:pPr>
            <a:r>
              <a:t>📊  Enable management with dashboards, analytics, and audit trails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486400"/>
            <a:ext cx="411480" cy="41148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defRPr sz="16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5513832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E293B"/>
                </a:solidFill>
                <a:latin typeface="Calibri"/>
              </a:defRPr>
            </a:pPr>
            <a:r>
              <a:rPr dirty="0"/>
              <a:t>🔔  Implement real-time notifications for critical health events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93B"/>
                </a:solidFill>
                <a:latin typeface="Calibri"/>
              </a:defRPr>
            </a:pPr>
            <a:r>
              <a:rPr dirty="0"/>
              <a:t>Project Scope — 4 User Roles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4/25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Section 1 — Problem Definition  |  Anton Farid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914400"/>
            <a:ext cx="137160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260604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2606040" cy="54864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508760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D9488"/>
                </a:solidFill>
                <a:latin typeface="Calibri"/>
              </a:defRPr>
            </a:pPr>
            <a:r>
              <a:rPr dirty="0"/>
              <a:t>👑 Admin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400" b="0">
                <a:solidFill>
                  <a:srgbClr val="475569"/>
                </a:solidFill>
                <a:latin typeface="Calibri"/>
              </a:defRPr>
            </a:pPr>
            <a:r>
              <a:rPr dirty="0"/>
              <a:t>• Full system control &amp; user management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400" b="0">
                <a:solidFill>
                  <a:srgbClr val="475569"/>
                </a:solidFill>
                <a:latin typeface="Calibri"/>
              </a:defRPr>
            </a:pPr>
            <a:r>
              <a:rPr dirty="0"/>
              <a:t>• Elderly resident registration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400" b="0">
                <a:solidFill>
                  <a:srgbClr val="475569"/>
                </a:solidFill>
                <a:latin typeface="Calibri"/>
              </a:defRPr>
            </a:pPr>
            <a:r>
              <a:rPr dirty="0"/>
              <a:t>• Statistics dashboard &amp; audit logs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400" b="0">
                <a:solidFill>
                  <a:srgbClr val="475569"/>
                </a:solidFill>
                <a:latin typeface="Calibri"/>
              </a:defRPr>
            </a:pPr>
            <a:r>
              <a:rPr dirty="0"/>
              <a:t>• Visit request oversight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6120" y="1371600"/>
            <a:ext cx="260604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46120" y="1371600"/>
            <a:ext cx="2606040" cy="54864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29000" y="1508760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8B5CF6"/>
                </a:solidFill>
                <a:latin typeface="Calibri"/>
              </a:defRPr>
            </a:pPr>
            <a:r>
              <a:rPr dirty="0"/>
              <a:t>🎖️ Team Leader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400" b="0">
                <a:solidFill>
                  <a:srgbClr val="475569"/>
                </a:solidFill>
                <a:latin typeface="Calibri"/>
              </a:defRPr>
            </a:pPr>
            <a:r>
              <a:rPr dirty="0"/>
              <a:t>• Approve/reject daily care reports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400" b="0">
                <a:solidFill>
                  <a:srgbClr val="475569"/>
                </a:solidFill>
                <a:latin typeface="Calibri"/>
              </a:defRPr>
            </a:pPr>
            <a:r>
              <a:rPr dirty="0"/>
              <a:t>• Create employee work schedules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400" b="0">
                <a:solidFill>
                  <a:srgbClr val="475569"/>
                </a:solidFill>
                <a:latin typeface="Calibri"/>
              </a:defRPr>
            </a:pPr>
            <a:r>
              <a:rPr dirty="0"/>
              <a:t>• Track attendance &amp; performance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400" b="0">
                <a:solidFill>
                  <a:srgbClr val="475569"/>
                </a:solidFill>
                <a:latin typeface="Calibri"/>
              </a:defRPr>
            </a:pPr>
            <a:r>
              <a:rPr dirty="0"/>
              <a:t>• Monitor resident health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1371600"/>
            <a:ext cx="260604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035040" y="1371600"/>
            <a:ext cx="2606040" cy="54864"/>
          </a:xfrm>
          <a:prstGeom prst="rect">
            <a:avLst/>
          </a:prstGeom>
          <a:solidFill>
            <a:srgbClr val="38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17920" y="1508760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82F6"/>
                </a:solidFill>
                <a:latin typeface="Calibri"/>
              </a:defRPr>
            </a:pPr>
            <a:r>
              <a:t>👨‍⚕️ Employee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400" b="0">
                <a:solidFill>
                  <a:srgbClr val="475569"/>
                </a:solidFill>
                <a:latin typeface="Calibri"/>
              </a:defRPr>
            </a:pPr>
            <a:r>
              <a:t>• Submit daily care reports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400" b="0">
                <a:solidFill>
                  <a:srgbClr val="475569"/>
                </a:solidFill>
                <a:latin typeface="Calibri"/>
              </a:defRPr>
            </a:pPr>
            <a:r>
              <a:t>• View assigned residents &amp; schedules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400" b="0">
                <a:solidFill>
                  <a:srgbClr val="475569"/>
                </a:solidFill>
                <a:latin typeface="Calibri"/>
              </a:defRPr>
            </a:pPr>
            <a:r>
              <a:t>• Receive AI health predictions &amp; diet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400" b="0">
                <a:solidFill>
                  <a:srgbClr val="475569"/>
                </a:solidFill>
                <a:latin typeface="Calibri"/>
              </a:defRPr>
            </a:pPr>
            <a:r>
              <a:t>• Task management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23960" y="1371600"/>
            <a:ext cx="260604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823960" y="1371600"/>
            <a:ext cx="260604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006840" y="1508760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9E0B"/>
                </a:solidFill>
                <a:latin typeface="Calibri"/>
              </a:defRPr>
            </a:pPr>
            <a:r>
              <a:t>👨‍👩‍👧 Family Member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400" b="0">
                <a:solidFill>
                  <a:srgbClr val="475569"/>
                </a:solidFill>
                <a:latin typeface="Calibri"/>
              </a:defRPr>
            </a:pPr>
            <a:r>
              <a:t>• Link via unique connection code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400" b="0">
                <a:solidFill>
                  <a:srgbClr val="475569"/>
                </a:solidFill>
                <a:latin typeface="Calibri"/>
              </a:defRPr>
            </a:pPr>
            <a:r>
              <a:t>• View daily health updates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400" b="0">
                <a:solidFill>
                  <a:srgbClr val="475569"/>
                </a:solidFill>
                <a:latin typeface="Calibri"/>
              </a:defRPr>
            </a:pPr>
            <a:r>
              <a:t>• Request and manage visits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400" b="0">
                <a:solidFill>
                  <a:srgbClr val="475569"/>
                </a:solidFill>
                <a:latin typeface="Calibri"/>
              </a:defRPr>
            </a:pPr>
            <a:r>
              <a:t>• Real-time health notifications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948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394960" y="1371600"/>
            <a:ext cx="1371600" cy="13716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System Architecture &amp; 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9319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CFBF1"/>
                </a:solidFill>
                <a:latin typeface="Calibri"/>
              </a:defRPr>
            </a:pPr>
            <a:r>
              <a:rPr dirty="0"/>
              <a:t>Clean Architecture  •  Microservices  •  Real-Time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8463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59E0B"/>
                </a:solidFill>
                <a:latin typeface="Calibri"/>
              </a:defRPr>
            </a:pPr>
            <a:r>
              <a:rPr dirty="0"/>
              <a:t>Presented by: Haidy Medhat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5669280"/>
            <a:ext cx="393192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93B"/>
                </a:solidFill>
                <a:latin typeface="Calibri"/>
              </a:defRPr>
            </a:pPr>
            <a:r>
              <a:t>System Architecture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48296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rPr dirty="0"/>
              <a:t>Microservice + Clean Architecture Pattern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6/25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Section 2 — Architecture  |  Haidy Medhat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914400"/>
            <a:ext cx="137160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57200" y="1371600"/>
            <a:ext cx="1124712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1371600"/>
            <a:ext cx="11247120" cy="54864"/>
          </a:xfrm>
          <a:prstGeom prst="rect">
            <a:avLst/>
          </a:prstGeom>
          <a:solidFill>
            <a:srgbClr val="38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15087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82F6"/>
                </a:solidFill>
                <a:latin typeface="Calibri"/>
              </a:defRPr>
            </a:pPr>
            <a:r>
              <a:t>Frontend — React 19 + Vite 8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400" b="0">
                <a:solidFill>
                  <a:srgbClr val="475569"/>
                </a:solidFill>
                <a:latin typeface="Calibri"/>
              </a:defRPr>
            </a:pPr>
            <a:r>
              <a:t>• HeroUI Components  •  TailwindCSS 4  •  Framer Motion  •  React Router 7  •  TanStack Query  •  Recharts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423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94A3B8"/>
                </a:solidFill>
                <a:latin typeface="Calibri"/>
              </a:defRPr>
            </a:pPr>
            <a:r>
              <a:t>▼ REST 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2423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94A3B8"/>
                </a:solidFill>
                <a:latin typeface="Calibri"/>
              </a:defRPr>
            </a:pPr>
            <a:r>
              <a:t>▼ SignalR WebSocket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743200"/>
            <a:ext cx="112471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" y="2743200"/>
            <a:ext cx="11247120" cy="54864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28803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D9488"/>
                </a:solidFill>
                <a:latin typeface="Calibri"/>
              </a:defRPr>
            </a:pPr>
            <a:r>
              <a:t>.NET 8 Backend API — Clean Architecture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337560"/>
            <a:ext cx="2468880" cy="118872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" y="3474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dirty="0"/>
              <a:t>API Layer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8404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FBF1"/>
                </a:solidFill>
                <a:latin typeface="Calibri"/>
              </a:defRPr>
            </a:pPr>
            <a:r>
              <a:rPr dirty="0"/>
              <a:t>Controllers, Hubs, Middleware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74720" y="3337560"/>
            <a:ext cx="2468880" cy="1188720"/>
          </a:xfrm>
          <a:prstGeom prst="roundRect">
            <a:avLst/>
          </a:prstGeom>
          <a:solidFill>
            <a:srgbClr val="0A6E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566160" y="3474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Application Layer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38404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FBF1"/>
                </a:solidFill>
                <a:latin typeface="Calibri"/>
              </a:defRPr>
            </a:pPr>
            <a:r>
              <a:t>DTOs, Interfaces, Mappings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3337560"/>
            <a:ext cx="2468880" cy="1188720"/>
          </a:xfrm>
          <a:prstGeom prst="roundRect">
            <a:avLst/>
          </a:prstGeom>
          <a:solidFill>
            <a:srgbClr val="06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09360" y="3474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Infrastructure Layer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38404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FBF1"/>
                </a:solidFill>
                <a:latin typeface="Calibri"/>
              </a:defRPr>
            </a:pPr>
            <a:r>
              <a:rPr dirty="0"/>
              <a:t>EF Core, Services, Identity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61120" y="3337560"/>
            <a:ext cx="2468880" cy="1188720"/>
          </a:xfrm>
          <a:prstGeom prst="roundRect">
            <a:avLst/>
          </a:prstGeom>
          <a:solidFill>
            <a:srgbClr val="044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052560" y="3474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Domain Layer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0" y="38404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FBF1"/>
                </a:solidFill>
                <a:latin typeface="Calibri"/>
              </a:defRPr>
            </a:pPr>
            <a:r>
              <a:rPr dirty="0"/>
              <a:t>Entities, Enums, Interfaces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49834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49834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94A3B8"/>
                </a:solidFill>
                <a:latin typeface="Calibri"/>
              </a:defRPr>
            </a:pPr>
            <a:r>
              <a:t>▼ REST + API Key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5303520"/>
            <a:ext cx="530352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57200" y="5303520"/>
            <a:ext cx="5303520" cy="54864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0080" y="54406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75569"/>
                </a:solidFill>
                <a:latin typeface="Calibri"/>
              </a:defRPr>
            </a:pPr>
            <a:r>
              <a:t>🗄️  SQL Server Database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• Entity Framework Core ORM  •  11 Entities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0" y="5303520"/>
            <a:ext cx="530352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400800" y="5303520"/>
            <a:ext cx="5303520" cy="54864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583680" y="54406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8B5CF6"/>
                </a:solidFill>
                <a:latin typeface="Calibri"/>
              </a:defRPr>
            </a:pPr>
            <a:r>
              <a:rPr dirty="0"/>
              <a:t>🧠  Python AI Microservice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rPr dirty="0"/>
              <a:t>• </a:t>
            </a:r>
            <a:r>
              <a:rPr dirty="0" err="1"/>
              <a:t>FastAPI</a:t>
            </a:r>
            <a:r>
              <a:rPr dirty="0"/>
              <a:t>  •  Scikit-Learn  •  Google Gemini API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93B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7/25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Section 2 — Architecture  |  Haidy Medhat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914400"/>
            <a:ext cx="137160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57200" y="1280160"/>
            <a:ext cx="34747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280160"/>
            <a:ext cx="3474720" cy="54864"/>
          </a:xfrm>
          <a:prstGeom prst="rect">
            <a:avLst/>
          </a:prstGeom>
          <a:solidFill>
            <a:srgbClr val="38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4173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82F6"/>
                </a:solidFill>
                <a:latin typeface="Calibri"/>
              </a:defRPr>
            </a:pPr>
            <a:r>
              <a:rPr dirty="0"/>
              <a:t>⚛️  Frontend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400" b="0">
                <a:solidFill>
                  <a:srgbClr val="475569"/>
                </a:solidFill>
                <a:latin typeface="Calibri"/>
              </a:defRPr>
            </a:pPr>
            <a:r>
              <a:rPr dirty="0"/>
              <a:t>• React 19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400" b="0">
                <a:solidFill>
                  <a:srgbClr val="475569"/>
                </a:solidFill>
                <a:latin typeface="Calibri"/>
              </a:defRPr>
            </a:pPr>
            <a:r>
              <a:rPr dirty="0"/>
              <a:t>• Vite 8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400" b="0">
                <a:solidFill>
                  <a:srgbClr val="475569"/>
                </a:solidFill>
                <a:latin typeface="Calibri"/>
              </a:defRPr>
            </a:pPr>
            <a:r>
              <a:rPr dirty="0"/>
              <a:t>• </a:t>
            </a:r>
            <a:r>
              <a:rPr dirty="0" err="1"/>
              <a:t>TailwindCSS</a:t>
            </a:r>
            <a:r>
              <a:rPr dirty="0"/>
              <a:t> 4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400" b="0">
                <a:solidFill>
                  <a:srgbClr val="475569"/>
                </a:solidFill>
                <a:latin typeface="Calibri"/>
              </a:defRPr>
            </a:pPr>
            <a:r>
              <a:rPr dirty="0"/>
              <a:t>• </a:t>
            </a:r>
            <a:r>
              <a:rPr dirty="0" err="1"/>
              <a:t>HeroUI</a:t>
            </a:r>
            <a:r>
              <a:rPr dirty="0"/>
              <a:t> Component Library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400" b="0">
                <a:solidFill>
                  <a:srgbClr val="475569"/>
                </a:solidFill>
                <a:latin typeface="Calibri"/>
              </a:defRPr>
            </a:pPr>
            <a:r>
              <a:rPr dirty="0"/>
              <a:t>• Framer Motion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400" b="0">
                <a:solidFill>
                  <a:srgbClr val="475569"/>
                </a:solidFill>
                <a:latin typeface="Calibri"/>
              </a:defRPr>
            </a:pPr>
            <a:r>
              <a:rPr dirty="0"/>
              <a:t>• React Router 7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400" b="0">
                <a:solidFill>
                  <a:srgbClr val="475569"/>
                </a:solidFill>
                <a:latin typeface="Calibri"/>
              </a:defRPr>
            </a:pPr>
            <a:r>
              <a:rPr dirty="0"/>
              <a:t>• </a:t>
            </a:r>
            <a:r>
              <a:rPr dirty="0" err="1"/>
              <a:t>TanStack</a:t>
            </a:r>
            <a:r>
              <a:rPr dirty="0"/>
              <a:t> React Query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400" b="0">
                <a:solidFill>
                  <a:srgbClr val="475569"/>
                </a:solidFill>
                <a:latin typeface="Calibri"/>
              </a:defRPr>
            </a:pPr>
            <a:r>
              <a:rPr dirty="0"/>
              <a:t>• Recharts (data visualization)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400" b="0">
                <a:solidFill>
                  <a:srgbClr val="475569"/>
                </a:solidFill>
                <a:latin typeface="Calibri"/>
              </a:defRPr>
            </a:pPr>
            <a:r>
              <a:rPr dirty="0"/>
              <a:t>• Axios, React Hook Form, Zod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280160"/>
            <a:ext cx="34747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297680" y="1280160"/>
            <a:ext cx="3474720" cy="54864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80560" y="14173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D9488"/>
                </a:solidFill>
                <a:latin typeface="Calibri"/>
              </a:defRPr>
            </a:pPr>
            <a:r>
              <a:rPr dirty="0"/>
              <a:t>⚙️  Backend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400" b="0">
                <a:solidFill>
                  <a:srgbClr val="475569"/>
                </a:solidFill>
                <a:latin typeface="Calibri"/>
              </a:defRPr>
            </a:pPr>
            <a:r>
              <a:rPr dirty="0"/>
              <a:t>• .NET 8 (ASP.NET Core)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400" b="0">
                <a:solidFill>
                  <a:srgbClr val="475569"/>
                </a:solidFill>
                <a:latin typeface="Calibri"/>
              </a:defRPr>
            </a:pPr>
            <a:r>
              <a:rPr dirty="0"/>
              <a:t>• Entity Framework Core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400" b="0">
                <a:solidFill>
                  <a:srgbClr val="475569"/>
                </a:solidFill>
                <a:latin typeface="Calibri"/>
              </a:defRPr>
            </a:pPr>
            <a:r>
              <a:rPr dirty="0"/>
              <a:t>• ASP.NET Identity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400" b="0">
                <a:solidFill>
                  <a:srgbClr val="475569"/>
                </a:solidFill>
                <a:latin typeface="Calibri"/>
              </a:defRPr>
            </a:pPr>
            <a:r>
              <a:rPr dirty="0"/>
              <a:t>• JWT Authentication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400" b="0">
                <a:solidFill>
                  <a:srgbClr val="475569"/>
                </a:solidFill>
                <a:latin typeface="Calibri"/>
              </a:defRPr>
            </a:pPr>
            <a:r>
              <a:rPr dirty="0"/>
              <a:t>• </a:t>
            </a:r>
            <a:r>
              <a:rPr dirty="0" err="1"/>
              <a:t>SignalR</a:t>
            </a:r>
            <a:r>
              <a:rPr dirty="0"/>
              <a:t> (Real-Time WebSocket)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400" b="0">
                <a:solidFill>
                  <a:srgbClr val="475569"/>
                </a:solidFill>
                <a:latin typeface="Calibri"/>
              </a:defRPr>
            </a:pPr>
            <a:r>
              <a:rPr dirty="0"/>
              <a:t>• </a:t>
            </a:r>
            <a:r>
              <a:rPr dirty="0" err="1"/>
              <a:t>AutoMapper</a:t>
            </a:r>
            <a:endParaRPr dirty="0"/>
          </a:p>
          <a:p>
            <a:pPr algn="l">
              <a:spcBef>
                <a:spcPts val="200"/>
              </a:spcBef>
              <a:spcAft>
                <a:spcPts val="100"/>
              </a:spcAft>
              <a:defRPr sz="1400" b="0">
                <a:solidFill>
                  <a:srgbClr val="475569"/>
                </a:solidFill>
                <a:latin typeface="Calibri"/>
              </a:defRPr>
            </a:pPr>
            <a:r>
              <a:rPr dirty="0"/>
              <a:t>• Swagger / </a:t>
            </a:r>
            <a:r>
              <a:rPr dirty="0" err="1"/>
              <a:t>OpenAPI</a:t>
            </a:r>
            <a:endParaRPr dirty="0"/>
          </a:p>
          <a:p>
            <a:pPr algn="l">
              <a:spcBef>
                <a:spcPts val="200"/>
              </a:spcBef>
              <a:spcAft>
                <a:spcPts val="100"/>
              </a:spcAft>
              <a:defRPr sz="1400" b="0">
                <a:solidFill>
                  <a:srgbClr val="475569"/>
                </a:solidFill>
                <a:latin typeface="Calibri"/>
              </a:defRPr>
            </a:pPr>
            <a:r>
              <a:rPr dirty="0"/>
              <a:t>• SQL Server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400" b="0">
                <a:solidFill>
                  <a:srgbClr val="475569"/>
                </a:solidFill>
                <a:latin typeface="Calibri"/>
              </a:defRPr>
            </a:pPr>
            <a:r>
              <a:rPr dirty="0"/>
              <a:t>• SMTP Email Service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280160"/>
            <a:ext cx="34747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38160" y="1280160"/>
            <a:ext cx="3474720" cy="54864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21040" y="14173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8B5CF6"/>
                </a:solidFill>
                <a:latin typeface="Calibri"/>
              </a:defRPr>
            </a:pPr>
            <a:r>
              <a:rPr dirty="0"/>
              <a:t>🧠  AI / ML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400" b="0">
                <a:solidFill>
                  <a:srgbClr val="475569"/>
                </a:solidFill>
                <a:latin typeface="Calibri"/>
              </a:defRPr>
            </a:pPr>
            <a:r>
              <a:rPr dirty="0"/>
              <a:t>• Python 3.x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400" b="0">
                <a:solidFill>
                  <a:srgbClr val="475569"/>
                </a:solidFill>
                <a:latin typeface="Calibri"/>
              </a:defRPr>
            </a:pPr>
            <a:r>
              <a:rPr dirty="0"/>
              <a:t>• </a:t>
            </a:r>
            <a:r>
              <a:rPr dirty="0" err="1"/>
              <a:t>FastAPI</a:t>
            </a:r>
            <a:r>
              <a:rPr dirty="0"/>
              <a:t> + </a:t>
            </a:r>
            <a:r>
              <a:rPr dirty="0" err="1"/>
              <a:t>Uvicorn</a:t>
            </a:r>
            <a:endParaRPr dirty="0"/>
          </a:p>
          <a:p>
            <a:pPr algn="l">
              <a:spcBef>
                <a:spcPts val="200"/>
              </a:spcBef>
              <a:spcAft>
                <a:spcPts val="100"/>
              </a:spcAft>
              <a:defRPr sz="1400" b="0">
                <a:solidFill>
                  <a:srgbClr val="475569"/>
                </a:solidFill>
                <a:latin typeface="Calibri"/>
              </a:defRPr>
            </a:pPr>
            <a:r>
              <a:rPr dirty="0"/>
              <a:t>• Scikit-Learn (ML)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400" b="0">
                <a:solidFill>
                  <a:srgbClr val="475569"/>
                </a:solidFill>
                <a:latin typeface="Calibri"/>
              </a:defRPr>
            </a:pPr>
            <a:r>
              <a:rPr dirty="0"/>
              <a:t>• Random Forest Classifier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400" b="0">
                <a:solidFill>
                  <a:srgbClr val="475569"/>
                </a:solidFill>
                <a:latin typeface="Calibri"/>
              </a:defRPr>
            </a:pPr>
            <a:r>
              <a:rPr dirty="0"/>
              <a:t>• Gradient Boosting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400" b="0">
                <a:solidFill>
                  <a:srgbClr val="475569"/>
                </a:solidFill>
                <a:latin typeface="Calibri"/>
              </a:defRPr>
            </a:pPr>
            <a:r>
              <a:rPr dirty="0"/>
              <a:t>• Pandas &amp; NumPy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400" b="0">
                <a:solidFill>
                  <a:srgbClr val="475569"/>
                </a:solidFill>
                <a:latin typeface="Calibri"/>
              </a:defRPr>
            </a:pPr>
            <a:r>
              <a:rPr dirty="0"/>
              <a:t>• </a:t>
            </a:r>
            <a:r>
              <a:rPr dirty="0" err="1"/>
              <a:t>Joblib</a:t>
            </a:r>
            <a:r>
              <a:rPr dirty="0"/>
              <a:t> (model persistence)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400" b="0">
                <a:solidFill>
                  <a:srgbClr val="475569"/>
                </a:solidFill>
                <a:latin typeface="Calibri"/>
              </a:defRPr>
            </a:pPr>
            <a:r>
              <a:rPr dirty="0"/>
              <a:t>• Google Gemini API (GenAI)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400" b="0">
                <a:solidFill>
                  <a:srgbClr val="475569"/>
                </a:solidFill>
                <a:latin typeface="Calibri"/>
              </a:defRPr>
            </a:pPr>
            <a:r>
              <a:rPr dirty="0"/>
              <a:t>• </a:t>
            </a:r>
            <a:r>
              <a:rPr dirty="0" err="1"/>
              <a:t>Pydantic</a:t>
            </a:r>
            <a:r>
              <a:rPr dirty="0"/>
              <a:t> (validation)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93B"/>
                </a:solidFill>
                <a:latin typeface="Calibri"/>
              </a:defRPr>
            </a:pPr>
            <a:r>
              <a:t>Database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3273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rPr dirty="0"/>
              <a:t>SQL Server  •  Entity Framework Core  •  11 Core Entities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8/25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Section 2 — Architecture  |  Haidy Medhat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914400"/>
            <a:ext cx="137160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65760" y="1371600"/>
            <a:ext cx="274320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5760" y="1371600"/>
            <a:ext cx="2743200" cy="4572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148132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9488"/>
                </a:solidFill>
                <a:latin typeface="Calibri"/>
              </a:defRPr>
            </a:pPr>
            <a:r>
              <a:t>User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82880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Calibri"/>
              </a:defRPr>
            </a:pPr>
            <a:r>
              <a:rPr dirty="0"/>
              <a:t>Extends ASP.NET Identity</a:t>
            </a:r>
            <a:br>
              <a:rPr dirty="0"/>
            </a:br>
            <a:r>
              <a:rPr dirty="0"/>
              <a:t>4 roles, soft delete, audit fields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46120" y="1371600"/>
            <a:ext cx="274320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246120" y="1371600"/>
            <a:ext cx="2743200" cy="4572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383280" y="148132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9488"/>
                </a:solidFill>
                <a:latin typeface="Calibri"/>
              </a:defRPr>
            </a:pPr>
            <a:r>
              <a:t>Elderly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182880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Calibri"/>
              </a:defRPr>
            </a:pPr>
            <a:r>
              <a:t>Resident profile, medical conditions</a:t>
            </a:r>
            <a:br/>
            <a:r>
              <a:t>allergies, ConnectionCode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1371600"/>
            <a:ext cx="274320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8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26480" y="1371600"/>
            <a:ext cx="2743200" cy="45720"/>
          </a:xfrm>
          <a:prstGeom prst="rect">
            <a:avLst/>
          </a:prstGeom>
          <a:solidFill>
            <a:srgbClr val="38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63640" y="148132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82F6"/>
                </a:solidFill>
                <a:latin typeface="Calibri"/>
              </a:defRPr>
            </a:pPr>
            <a:r>
              <a:t>DailyReport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182880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Calibri"/>
              </a:defRPr>
            </a:pPr>
            <a:r>
              <a:t>Employee → Elderly report</a:t>
            </a:r>
            <a:br/>
            <a:r>
              <a:t>Approval workflow, AI report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06840" y="1371600"/>
            <a:ext cx="274320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8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006840" y="1371600"/>
            <a:ext cx="2743200" cy="45720"/>
          </a:xfrm>
          <a:prstGeom prst="rect">
            <a:avLst/>
          </a:prstGeom>
          <a:solidFill>
            <a:srgbClr val="38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0" y="148132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82F6"/>
                </a:solidFill>
                <a:latin typeface="Calibri"/>
              </a:defRPr>
            </a:pPr>
            <a:r>
              <a:t>HealthMetric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182880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Calibri"/>
              </a:defRPr>
            </a:pPr>
            <a:r>
              <a:t>6 types: Meal, Medication</a:t>
            </a:r>
            <a:br/>
            <a:r>
              <a:t>Activity, Symptom, Vital, Mood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2852928"/>
            <a:ext cx="274320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65760" y="2852928"/>
            <a:ext cx="2743200" cy="4572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02920" y="2962656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B5CF6"/>
                </a:solidFill>
                <a:latin typeface="Calibri"/>
              </a:defRPr>
            </a:pPr>
            <a:r>
              <a:t>WorkSchedule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3310128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Calibri"/>
              </a:defRPr>
            </a:pPr>
            <a:r>
              <a:t>Shift management</a:t>
            </a:r>
            <a:br/>
            <a:r>
              <a:t>Morning/Afternoon/Night/Off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246120" y="2852928"/>
            <a:ext cx="274320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246120" y="2852928"/>
            <a:ext cx="2743200" cy="4572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383280" y="2962656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B5CF6"/>
                </a:solidFill>
                <a:latin typeface="Calibri"/>
              </a:defRPr>
            </a:pPr>
            <a:r>
              <a:t>AttendanceLog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83280" y="3310128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Calibri"/>
              </a:defRPr>
            </a:pPr>
            <a:r>
              <a:t>Employee check-in/out</a:t>
            </a:r>
            <a:br/>
            <a:r>
              <a:t>Time tracking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26480" y="2852928"/>
            <a:ext cx="274320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126480" y="2852928"/>
            <a:ext cx="274320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263640" y="2962656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VisitRequest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40" y="3310128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Calibri"/>
              </a:defRPr>
            </a:pPr>
            <a:r>
              <a:t>Family visit management</a:t>
            </a:r>
            <a:br/>
            <a:r>
              <a:t>5 statuses: Pending→Completed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006840" y="2852928"/>
            <a:ext cx="274320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9006840" y="2852928"/>
            <a:ext cx="274320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144000" y="2962656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Notification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3310128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Calibri"/>
              </a:defRPr>
            </a:pPr>
            <a:r>
              <a:rPr dirty="0"/>
              <a:t>6 types: </a:t>
            </a:r>
            <a:r>
              <a:rPr dirty="0" err="1"/>
              <a:t>HealthAlert</a:t>
            </a:r>
            <a:br>
              <a:rPr dirty="0"/>
            </a:br>
            <a:r>
              <a:rPr dirty="0" err="1"/>
              <a:t>ReportApproved</a:t>
            </a:r>
            <a:r>
              <a:rPr dirty="0"/>
              <a:t>, </a:t>
            </a:r>
            <a:r>
              <a:rPr dirty="0" err="1"/>
              <a:t>VisitRequest</a:t>
            </a:r>
            <a:r>
              <a:rPr dirty="0"/>
              <a:t>...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65760" y="4334256"/>
            <a:ext cx="274320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365760" y="4334256"/>
            <a:ext cx="2743200" cy="45720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02920" y="4443984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75569"/>
                </a:solidFill>
                <a:latin typeface="Calibri"/>
              </a:defRPr>
            </a:pPr>
            <a:r>
              <a:t>AuditLog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4791456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Calibri"/>
              </a:defRPr>
            </a:pPr>
            <a:r>
              <a:t>Full action trail</a:t>
            </a:r>
            <a:br/>
            <a:r>
              <a:t>Timestamped, user-linked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246120" y="4334256"/>
            <a:ext cx="274320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3246120" y="4334256"/>
            <a:ext cx="2743200" cy="45720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383280" y="4443984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75569"/>
                </a:solidFill>
                <a:latin typeface="Calibri"/>
              </a:defRPr>
            </a:pPr>
            <a:r>
              <a:t>EmployeeElderlyAssignment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383280" y="4791456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Calibri"/>
              </a:defRPr>
            </a:pPr>
            <a:r>
              <a:t>Caregiver↔Resident</a:t>
            </a:r>
            <a:br/>
            <a:r>
              <a:t>many-to-many link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126480" y="4334256"/>
            <a:ext cx="274320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6126480" y="4334256"/>
            <a:ext cx="2743200" cy="45720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263640" y="4443984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75569"/>
                </a:solidFill>
                <a:latin typeface="Calibri"/>
              </a:defRPr>
            </a:pPr>
            <a:r>
              <a:t>ElderlyFamilyMember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63640" y="4791456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Calibri"/>
              </a:defRPr>
            </a:pPr>
            <a:r>
              <a:t>Family↔Resident</a:t>
            </a:r>
            <a:br/>
            <a:r>
              <a:t>via ConnectionCode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93B"/>
                </a:solidFill>
                <a:latin typeface="Calibri"/>
              </a:defRPr>
            </a:pPr>
            <a:r>
              <a:t>Security &amp; Authentication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9/25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Section 2 — Architecture  |  Haidy Medhat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914400"/>
            <a:ext cx="137160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57200" y="1280160"/>
            <a:ext cx="54864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280160"/>
            <a:ext cx="5486400" cy="54864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4173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D9488"/>
                </a:solidFill>
                <a:latin typeface="Calibri"/>
              </a:defRPr>
            </a:pPr>
            <a:r>
              <a:t>🔐 Authentication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400" b="0">
                <a:solidFill>
                  <a:srgbClr val="475569"/>
                </a:solidFill>
                <a:latin typeface="Calibri"/>
              </a:defRPr>
            </a:pPr>
            <a:r>
              <a:t>• ASP.NET Core Identity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400" b="0">
                <a:solidFill>
                  <a:srgbClr val="475569"/>
                </a:solidFill>
                <a:latin typeface="Calibri"/>
              </a:defRPr>
            </a:pPr>
            <a:r>
              <a:t>• JWT Bearer Token (60 min expiry)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400" b="0">
                <a:solidFill>
                  <a:srgbClr val="475569"/>
                </a:solidFill>
                <a:latin typeface="Calibri"/>
              </a:defRPr>
            </a:pPr>
            <a:r>
              <a:t>• Password policy: digit + uppercase + min 6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400" b="0">
                <a:solidFill>
                  <a:srgbClr val="475569"/>
                </a:solidFill>
                <a:latin typeface="Calibri"/>
              </a:defRPr>
            </a:pPr>
            <a:r>
              <a:t>• Email verification for password reset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280160"/>
            <a:ext cx="54864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280160"/>
            <a:ext cx="5486400" cy="54864"/>
          </a:xfrm>
          <a:prstGeom prst="rect">
            <a:avLst/>
          </a:prstGeom>
          <a:solidFill>
            <a:srgbClr val="38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14173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882F6"/>
                </a:solidFill>
                <a:latin typeface="Calibri"/>
              </a:defRPr>
            </a:pPr>
            <a:r>
              <a:t>🛡️ Authorization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400" b="0">
                <a:solidFill>
                  <a:srgbClr val="475569"/>
                </a:solidFill>
                <a:latin typeface="Calibri"/>
              </a:defRPr>
            </a:pPr>
            <a:r>
              <a:t>• Role-Based Access Control (RBAC): 4 roles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400" b="0">
                <a:solidFill>
                  <a:srgbClr val="475569"/>
                </a:solidFill>
                <a:latin typeface="Calibri"/>
              </a:defRPr>
            </a:pPr>
            <a:r>
              <a:t>• Frontend: ProtectedRoutes by role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400" b="0">
                <a:solidFill>
                  <a:srgbClr val="475569"/>
                </a:solidFill>
                <a:latin typeface="Calibri"/>
              </a:defRPr>
            </a:pPr>
            <a:r>
              <a:t>• Backend: [Authorize] on controllers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400" b="0">
                <a:solidFill>
                  <a:srgbClr val="475569"/>
                </a:solidFill>
                <a:latin typeface="Calibri"/>
              </a:defRPr>
            </a:pPr>
            <a:r>
              <a:t>• Route guards prevent unauthorized access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840480"/>
            <a:ext cx="54864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" y="3840480"/>
            <a:ext cx="5486400" cy="54864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39776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8B5CF6"/>
                </a:solidFill>
                <a:latin typeface="Calibri"/>
              </a:defRPr>
            </a:pPr>
            <a:r>
              <a:t>🔑 AI Service Security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400" b="0">
                <a:solidFill>
                  <a:srgbClr val="475569"/>
                </a:solidFill>
                <a:latin typeface="Calibri"/>
              </a:defRPr>
            </a:pPr>
            <a:r>
              <a:t>• X-API-Key header on every request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400" b="0">
                <a:solidFill>
                  <a:srgbClr val="475569"/>
                </a:solidFill>
                <a:latin typeface="Calibri"/>
              </a:defRPr>
            </a:pPr>
            <a:r>
              <a:t>• API key validated per endpoint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400" b="0">
                <a:solidFill>
                  <a:srgbClr val="475569"/>
                </a:solidFill>
                <a:latin typeface="Calibri"/>
              </a:defRPr>
            </a:pPr>
            <a:r>
              <a:t>• CORS configured for backend only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400" b="0">
                <a:solidFill>
                  <a:srgbClr val="475569"/>
                </a:solidFill>
                <a:latin typeface="Calibri"/>
              </a:defRPr>
            </a:pPr>
            <a:r>
              <a:t>• Separate microservice isolation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840480"/>
            <a:ext cx="54864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17920" y="3840480"/>
            <a:ext cx="548640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0" y="39776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59E0B"/>
                </a:solidFill>
                <a:latin typeface="Calibri"/>
              </a:defRPr>
            </a:pPr>
            <a:r>
              <a:t>📋 Audit &amp; Safety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400" b="0">
                <a:solidFill>
                  <a:srgbClr val="475569"/>
                </a:solidFill>
                <a:latin typeface="Calibri"/>
              </a:defRPr>
            </a:pPr>
            <a:r>
              <a:t>• Account lockout: 5 fails → 5 min lock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400" b="0">
                <a:solidFill>
                  <a:srgbClr val="475569"/>
                </a:solidFill>
                <a:latin typeface="Calibri"/>
              </a:defRPr>
            </a:pPr>
            <a:r>
              <a:t>• Soft delete (never lose data)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400" b="0">
                <a:solidFill>
                  <a:srgbClr val="475569"/>
                </a:solidFill>
                <a:latin typeface="Calibri"/>
              </a:defRPr>
            </a:pPr>
            <a:r>
              <a:t>• Full AuditLog trail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400" b="0">
                <a:solidFill>
                  <a:srgbClr val="475569"/>
                </a:solidFill>
                <a:latin typeface="Calibri"/>
              </a:defRPr>
            </a:pPr>
            <a:r>
              <a:t>• Prediction history logged to CSV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B5C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394960" y="1371600"/>
            <a:ext cx="1371600" cy="13716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AI &amp; Machine Learning 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9319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CFBF1"/>
                </a:solidFill>
                <a:latin typeface="Calibri"/>
              </a:defRPr>
            </a:pPr>
            <a:r>
              <a:t>Health Risk Prediction  •  Diet Recommendation  •  Fall Detection  •  Gemini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8463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59E0B"/>
                </a:solidFill>
                <a:latin typeface="Calibri"/>
              </a:defRPr>
            </a:pPr>
            <a:r>
              <a:t>Presented by: Maryam Elghazaly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5669280"/>
            <a:ext cx="393192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93B"/>
                </a:solidFill>
                <a:latin typeface="Calibri"/>
              </a:defRPr>
            </a:pPr>
            <a:r>
              <a:t>AI-Powered Intelligence — 4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7057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rPr dirty="0"/>
              <a:t>Python </a:t>
            </a:r>
            <a:r>
              <a:rPr dirty="0" err="1"/>
              <a:t>FastAPI</a:t>
            </a:r>
            <a:r>
              <a:rPr dirty="0"/>
              <a:t> Microservice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11/25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Section 3 — AI Module  |  Maryam Elghazaly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914400"/>
            <a:ext cx="137160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40080" y="1371600"/>
            <a:ext cx="640080" cy="64008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/>
            </a:pPr>
            <a:r>
              <a:t>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135331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D9488"/>
                </a:solidFill>
                <a:latin typeface="Calibri"/>
              </a:defRPr>
            </a:pPr>
            <a:r>
              <a:t>Predictive Health Risk Assessment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169164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Calibri"/>
              </a:defRPr>
            </a:pPr>
            <a:r>
              <a:t>ML model predicts High/Low risk from 11 vital signs</a:t>
            </a:r>
            <a:br/>
            <a:r>
              <a:t>Hybrid approach: AI + Clinical Rule-Based Safety Overrides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2606040"/>
            <a:ext cx="640080" cy="640080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/>
            </a:pPr>
            <a:r>
              <a:t>🍽️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58775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2C55E"/>
                </a:solidFill>
                <a:latin typeface="Calibri"/>
              </a:defRPr>
            </a:pPr>
            <a:r>
              <a:rPr dirty="0"/>
              <a:t>Smart Dietary Recommendation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292608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Calibri"/>
              </a:defRPr>
            </a:pPr>
            <a:r>
              <a:rPr dirty="0"/>
              <a:t>Random Forest classifiers recommend personalized meals</a:t>
            </a:r>
            <a:br>
              <a:rPr dirty="0"/>
            </a:br>
            <a:r>
              <a:rPr dirty="0"/>
              <a:t>Allergy-aware • Condition-aware • BMI-aware • Dynamic retraining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3840480"/>
            <a:ext cx="640080" cy="640080"/>
          </a:xfrm>
          <a:prstGeom prst="ellipse">
            <a:avLst/>
          </a:prstGeom>
          <a:solidFill>
            <a:srgbClr val="38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/>
            </a:pPr>
            <a:r>
              <a:t>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8221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82F6"/>
                </a:solidFill>
                <a:latin typeface="Calibri"/>
              </a:defRPr>
            </a:pPr>
            <a:r>
              <a:rPr dirty="0"/>
              <a:t>Fall Detection (CV Prototype)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1605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Calibri"/>
              </a:defRPr>
            </a:pPr>
            <a:r>
              <a:rPr dirty="0"/>
              <a:t>Bounding-box aspect ratio for posture detection</a:t>
            </a:r>
            <a:br>
              <a:rPr dirty="0"/>
            </a:br>
            <a:r>
              <a:rPr dirty="0"/>
              <a:t>Production-ready API for future pose estimation (YOLOv8)</a:t>
            </a:r>
          </a:p>
        </p:txBody>
      </p:sp>
      <p:sp>
        <p:nvSpPr>
          <p:cNvPr id="18" name="Oval 17"/>
          <p:cNvSpPr/>
          <p:nvPr/>
        </p:nvSpPr>
        <p:spPr>
          <a:xfrm>
            <a:off x="640080" y="5074920"/>
            <a:ext cx="640080" cy="640080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/>
            </a:pPr>
            <a:r>
              <a:t>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505663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B5CF6"/>
                </a:solidFill>
                <a:latin typeface="Calibri"/>
              </a:defRPr>
            </a:pPr>
            <a:r>
              <a:t>Gemini AI Report Generation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39496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Calibri"/>
              </a:defRPr>
            </a:pPr>
            <a:r>
              <a:t>Google Gemini transforms structured data into clinical narratives</a:t>
            </a:r>
            <a:br/>
            <a:r>
              <a:t>Multi-day health pattern detection with severity alerts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93B"/>
                </a:solidFill>
                <a:latin typeface="Calibri"/>
              </a:defRPr>
            </a:pPr>
            <a:r>
              <a:t>Predictive Health Risk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2669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rPr dirty="0"/>
              <a:t>Hybrid ML + Clinical Safety Rules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12/25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Section 3 — AI Module  |  Maryam Elghazaly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914400"/>
            <a:ext cx="137160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57200" y="1280160"/>
            <a:ext cx="54864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5486400" cy="54864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14173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D9488"/>
                </a:solidFill>
                <a:latin typeface="Calibri"/>
              </a:defRPr>
            </a:pPr>
            <a:r>
              <a:rPr dirty="0"/>
              <a:t>📊 Model Training Pipeline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rPr dirty="0"/>
              <a:t>• Dataset: 3,000 synthetic elderly health records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rPr dirty="0"/>
              <a:t>• Probabilistic labeling (not rule-based)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rPr dirty="0"/>
              <a:t>• Missing value imputation (median strategy)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rPr dirty="0"/>
              <a:t>• Outlier clipping to clinical ranges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rPr dirty="0"/>
              <a:t>• Stratified 80/20 train-test split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280160"/>
            <a:ext cx="54864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17920" y="1280160"/>
            <a:ext cx="5486400" cy="54864"/>
          </a:xfrm>
          <a:prstGeom prst="rect">
            <a:avLst/>
          </a:prstGeom>
          <a:solidFill>
            <a:srgbClr val="38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0" y="14173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82F6"/>
                </a:solidFill>
                <a:latin typeface="Calibri"/>
              </a:defRPr>
            </a:pPr>
            <a:r>
              <a:t>🔬 Model Comparison (Best of 4)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• Logistic Regression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• Decision Tree (max_depth=6)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• Random Forest (150 trees) ✅ Best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• Gradient Boosting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• Auto-selected by highest F1-Score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749039"/>
            <a:ext cx="1124712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57200" y="3749039"/>
            <a:ext cx="11247120" cy="54864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3886199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F4444"/>
                </a:solidFill>
                <a:latin typeface="Calibri"/>
              </a:defRPr>
            </a:pPr>
            <a:r>
              <a:rPr dirty="0"/>
              <a:t>🛡️ Hybrid Safety Net — Clinical Rule-Based Overrides (Force High Risk @ 99% Confidence)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rPr dirty="0"/>
              <a:t>• 🔺 Severe Hypertension: BP ≥ 160/100 mmHg → Cardiovascular distress risk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rPr dirty="0"/>
              <a:t>• 🔺 Tachycardia: Heart Rate ≥ 115 bpm → Possible fever, infection, or cardiac stress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rPr dirty="0"/>
              <a:t>• 🔺 High Fever: Temperature ≥ 101.5°F → Active infection or heat stress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rPr dirty="0"/>
              <a:t>• 🔺 Severe Hyperglycemia: Blood Sugar ≥ 200 mg/dL → Risk of DKA / HHS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rPr dirty="0"/>
              <a:t>• 🔻 Severe Hypoglycemia: Blood Sugar ≤ 60 mg/dL → Seizure / loss of consciousness risk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rPr dirty="0"/>
              <a:t>• 🔻 Bradycardia: Heart Rate ≤ 45 bpm → Syncope / low perfusion risk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rPr dirty="0"/>
              <a:t>• ⚠️ 2+ Missed Medications → Chronic disease destabilization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93B"/>
                </a:solidFill>
                <a:latin typeface="Calibri"/>
              </a:defRPr>
            </a:pPr>
            <a:r>
              <a:rPr dirty="0"/>
              <a:t>Smart Dietary &amp; Nutrition 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3268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rPr dirty="0"/>
              <a:t>Random Forest Classifiers  •  Allergy-Aware  •  Dynamic Retraining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13/25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Section 3 — AI Module  |  Maryam Elghazaly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914400"/>
            <a:ext cx="137160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57200" y="1280160"/>
            <a:ext cx="548640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5486400" cy="54864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14173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Calibri"/>
              </a:defRPr>
            </a:pPr>
            <a:r>
              <a:t>🧬 Recommendation Pipeline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• 1. Patient profile: age, gender, BMI, conditions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• 2. Feature engineering: conditions → boolean flags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• 3. Three RF classifiers predict: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•    • Breakfast  •  Lunch  •  Dinner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• 4. Allergy filter: scan for allergens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•    → Unsafe meal → fallback to safe recipe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• 5. Dynamic recipe bank (JSON + CRUD API)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• 6. Auto-generate dietitian clinical notes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280160"/>
            <a:ext cx="548640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17920" y="1280160"/>
            <a:ext cx="5486400" cy="54864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0" y="14173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8B5CF6"/>
                </a:solidFill>
                <a:latin typeface="Calibri"/>
              </a:defRPr>
            </a:pPr>
            <a:r>
              <a:t>📋 Intelligent Dietitian Notes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• BMI analysis (underweight/healthy/overweight)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• Blood sugar &amp; BP trend assessment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• Per-allergen explanations: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•    🥛 Dairy  🥜 Nuts  🐟 Seafood  🍳 Egg  🫘 Soy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• Per-restriction adaptation: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•    🌾 Gluten-free  🧂 Low-sodium  🥗 Vegetarian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•    🌙 Halal  🍬 Low-sugar  🥣 Soft-food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• Total daily calorie &amp; protein breakdown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206240"/>
            <a:ext cx="112471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57200" y="4206240"/>
            <a:ext cx="1124712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34340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  <a:latin typeface="Calibri"/>
              </a:defRPr>
            </a:pPr>
            <a:r>
              <a:t>♻️ Dynamic On-the-Fly Retraining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• POST /api/ml/retrain → augments dataset with new recipes from recipes.json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• Generates 150 synthetic training samples per new recipe (realistic patient profiles)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• Retrains all 3 classifiers automatically — zero downtime, no manual intervention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• New recipes inherit appropriate disease/dietary mappings from their tags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93B"/>
                </a:solidFill>
                <a:latin typeface="Calibri"/>
              </a:defRPr>
            </a:pPr>
            <a:r>
              <a:t>Fall Detection &amp; Gemini AI Reports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14/25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Section 3 — AI Module  |  Maryam Elghazaly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914400"/>
            <a:ext cx="137160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57200" y="1280160"/>
            <a:ext cx="548640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280160"/>
            <a:ext cx="5486400" cy="54864"/>
          </a:xfrm>
          <a:prstGeom prst="rect">
            <a:avLst/>
          </a:prstGeom>
          <a:solidFill>
            <a:srgbClr val="38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4173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82F6"/>
                </a:solidFill>
                <a:latin typeface="Calibri"/>
              </a:defRPr>
            </a:pPr>
            <a:r>
              <a:rPr dirty="0"/>
              <a:t>🎥 Fall Detection — CV Prototype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rPr dirty="0"/>
              <a:t>• Bounding box aspect ratio analysis: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rPr dirty="0"/>
              <a:t>•    Standing: height &gt; width → ratio &gt; 1.0  ✅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rPr dirty="0"/>
              <a:t>•    Fallen:    height &lt; width → ratio &lt; 0.85  ⚠️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rPr dirty="0"/>
              <a:t>• 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rPr dirty="0"/>
              <a:t>• Confidence: 95% when fall detected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rPr dirty="0"/>
              <a:t>• 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rPr dirty="0"/>
              <a:t>• 🔮 Production Roadmap: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rPr dirty="0"/>
              <a:t>•    → YOLOv8-Pose skeleton </a:t>
            </a:r>
            <a:r>
              <a:rPr dirty="0" err="1"/>
              <a:t>keypoints</a:t>
            </a:r>
            <a:endParaRPr dirty="0"/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rPr dirty="0"/>
              <a:t>•    → Real-time video stream (OpenCV)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rPr dirty="0"/>
              <a:t>•    → CCTV camera integration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rPr dirty="0"/>
              <a:t>• 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rPr dirty="0"/>
              <a:t>• Alert: AI → Backend → </a:t>
            </a:r>
            <a:r>
              <a:rPr dirty="0" err="1"/>
              <a:t>SignalR</a:t>
            </a:r>
            <a:r>
              <a:rPr dirty="0"/>
              <a:t> → Real-Time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280160"/>
            <a:ext cx="548640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280160"/>
            <a:ext cx="5486400" cy="54864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14173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8B5CF6"/>
                </a:solidFill>
                <a:latin typeface="Calibri"/>
              </a:defRPr>
            </a:pPr>
            <a:r>
              <a:t>📝 Gemini AI Report Generation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• Input: Structured health metrics data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• Output: Professional clinical narrative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• 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• Generated Report Sections: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•    1. Summary — condition &amp; mood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•    2. Medications — adherence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•    3. Meals — consumption &amp; appetite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•    4. Activities — engagement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•    5. Observations — changes/concerns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•    6. Recommendations — next shift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• 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• 🧠 Multi-day pattern detection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• 🛟 Fallback template if API unavailable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6E6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394960" y="1371600"/>
            <a:ext cx="1371600" cy="13716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Backend API &amp; Real-Time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9319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CFBF1"/>
                </a:solidFill>
                <a:latin typeface="Calibri"/>
              </a:defRPr>
            </a:pPr>
            <a:r>
              <a:t>RESTful Design  •  Approval Workflow  •  SignalR  •  Email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8463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59E0B"/>
                </a:solidFill>
                <a:latin typeface="Calibri"/>
              </a:defRPr>
            </a:pPr>
            <a:r>
              <a:t>Presented by: Abdelrhman Reda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5669280"/>
            <a:ext cx="393192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93B"/>
                </a:solidFill>
                <a:latin typeface="Calibri"/>
              </a:defRPr>
            </a:pPr>
            <a:r>
              <a:t>Backend API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093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rPr dirty="0"/>
              <a:t>Clean Architecture  •  10 Controllers  •  10 Services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16/25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rPr dirty="0"/>
              <a:t>Section 4 — Backend  |  Abdelrhman Reda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914400"/>
            <a:ext cx="137160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57200" y="1280160"/>
            <a:ext cx="530352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5303520" cy="54864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14173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D9488"/>
                </a:solidFill>
                <a:latin typeface="Calibri"/>
              </a:defRPr>
            </a:pPr>
            <a:r>
              <a:rPr dirty="0"/>
              <a:t>📂 API Controllers (10)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rPr dirty="0"/>
              <a:t>• </a:t>
            </a:r>
            <a:r>
              <a:rPr dirty="0" err="1"/>
              <a:t>AuthController</a:t>
            </a:r>
            <a:r>
              <a:rPr dirty="0"/>
              <a:t> — Login, Register, Password Reset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rPr dirty="0"/>
              <a:t>• </a:t>
            </a:r>
            <a:r>
              <a:rPr dirty="0" err="1"/>
              <a:t>AdminController</a:t>
            </a:r>
            <a:r>
              <a:rPr dirty="0"/>
              <a:t> — User/Elder CRUD, Statistics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rPr dirty="0"/>
              <a:t>• </a:t>
            </a:r>
            <a:r>
              <a:rPr dirty="0" err="1"/>
              <a:t>TeamLeaderController</a:t>
            </a:r>
            <a:r>
              <a:rPr dirty="0"/>
              <a:t> — Reports, Schedules, Attendance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rPr dirty="0"/>
              <a:t>• </a:t>
            </a:r>
            <a:r>
              <a:rPr dirty="0" err="1"/>
              <a:t>EmployeeController</a:t>
            </a:r>
            <a:r>
              <a:rPr dirty="0"/>
              <a:t> — Daily Reports, Metrics, Tasks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rPr dirty="0"/>
              <a:t>• </a:t>
            </a:r>
            <a:r>
              <a:rPr dirty="0" err="1"/>
              <a:t>FamilyController</a:t>
            </a:r>
            <a:r>
              <a:rPr dirty="0"/>
              <a:t> — Loved Ones, Updates, Visits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rPr dirty="0"/>
              <a:t>• </a:t>
            </a:r>
            <a:r>
              <a:rPr dirty="0" err="1"/>
              <a:t>NotificationController</a:t>
            </a:r>
            <a:r>
              <a:rPr dirty="0"/>
              <a:t> — Get/Mark notifications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rPr dirty="0"/>
              <a:t>• </a:t>
            </a:r>
            <a:r>
              <a:rPr dirty="0" err="1"/>
              <a:t>GeminiTestController</a:t>
            </a:r>
            <a:r>
              <a:rPr dirty="0"/>
              <a:t> — AI report generation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280160"/>
            <a:ext cx="557784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26480" y="1280160"/>
            <a:ext cx="5577840" cy="54864"/>
          </a:xfrm>
          <a:prstGeom prst="rect">
            <a:avLst/>
          </a:prstGeom>
          <a:solidFill>
            <a:srgbClr val="38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09360" y="141732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82F6"/>
                </a:solidFill>
                <a:latin typeface="Calibri"/>
              </a:defRPr>
            </a:pPr>
            <a:r>
              <a:rPr dirty="0"/>
              <a:t>📦 Backend Services (10)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rPr dirty="0"/>
              <a:t>• </a:t>
            </a:r>
            <a:r>
              <a:rPr dirty="0" err="1"/>
              <a:t>AdminService</a:t>
            </a:r>
            <a:r>
              <a:rPr dirty="0"/>
              <a:t> (77KB of logic!)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rPr dirty="0"/>
              <a:t>• </a:t>
            </a:r>
            <a:r>
              <a:rPr dirty="0" err="1"/>
              <a:t>TeamLeaderService</a:t>
            </a:r>
            <a:r>
              <a:rPr dirty="0"/>
              <a:t> (79KB of logic!)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rPr dirty="0"/>
              <a:t>• </a:t>
            </a:r>
            <a:r>
              <a:rPr dirty="0" err="1"/>
              <a:t>EmployeeService</a:t>
            </a:r>
            <a:r>
              <a:rPr dirty="0"/>
              <a:t> (48KB)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rPr dirty="0"/>
              <a:t>• </a:t>
            </a:r>
            <a:r>
              <a:rPr dirty="0" err="1"/>
              <a:t>FamilyMemberService</a:t>
            </a:r>
            <a:r>
              <a:rPr dirty="0"/>
              <a:t> (48KB)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rPr dirty="0"/>
              <a:t>• </a:t>
            </a:r>
            <a:r>
              <a:rPr dirty="0" err="1"/>
              <a:t>AuthenticationService</a:t>
            </a:r>
            <a:r>
              <a:rPr dirty="0"/>
              <a:t> (18KB)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rPr dirty="0"/>
              <a:t>• </a:t>
            </a:r>
            <a:r>
              <a:rPr dirty="0" err="1"/>
              <a:t>GeminiService</a:t>
            </a:r>
            <a:r>
              <a:rPr dirty="0"/>
              <a:t> — Gemini API integration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rPr dirty="0"/>
              <a:t>• </a:t>
            </a:r>
            <a:r>
              <a:rPr dirty="0" err="1"/>
              <a:t>AiPredictionService</a:t>
            </a:r>
            <a:r>
              <a:rPr dirty="0"/>
              <a:t> — Python ML bridge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rPr dirty="0"/>
              <a:t>• </a:t>
            </a:r>
            <a:r>
              <a:rPr dirty="0" err="1"/>
              <a:t>NotificationService</a:t>
            </a:r>
            <a:r>
              <a:rPr dirty="0"/>
              <a:t> — </a:t>
            </a:r>
            <a:r>
              <a:rPr dirty="0" err="1"/>
              <a:t>SignalR</a:t>
            </a:r>
            <a:r>
              <a:rPr dirty="0"/>
              <a:t> + DB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rPr dirty="0"/>
              <a:t>• </a:t>
            </a:r>
            <a:r>
              <a:rPr dirty="0" err="1"/>
              <a:t>EmailService</a:t>
            </a:r>
            <a:r>
              <a:rPr dirty="0"/>
              <a:t> — SMTP Gmail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846320"/>
            <a:ext cx="112471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57200" y="4846320"/>
            <a:ext cx="1124712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  <a:latin typeface="Calibri"/>
              </a:defRPr>
            </a:pPr>
            <a:r>
              <a:t>🔧 Design Patterns Used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400" b="0">
                <a:solidFill>
                  <a:srgbClr val="475569"/>
                </a:solidFill>
                <a:latin typeface="Calibri"/>
              </a:defRPr>
            </a:pPr>
            <a:r>
              <a:t>• Repository Pattern (EF Core)  •  Service Layer Pattern  •  DTO + AutoMapper  •  Response Wrapper  •  Dependency Injection  •  Middleware Pipeline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93B"/>
                </a:solidFill>
                <a:latin typeface="Calibri"/>
              </a:defRPr>
            </a:pPr>
            <a:r>
              <a:t>Daily Care Report — End-to-End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17/25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Section 4 — Backend  |  Abdelrhman Reda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914400"/>
            <a:ext cx="137160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65760" y="1371600"/>
            <a:ext cx="2743200" cy="3474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371600" y="1554480"/>
            <a:ext cx="731520" cy="73152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4688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D9488"/>
                </a:solidFill>
                <a:latin typeface="Calibri"/>
              </a:defRPr>
            </a:pPr>
            <a:r>
              <a:t>Employee Submits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26080"/>
            <a:ext cx="2468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  <a:latin typeface="Calibri"/>
              </a:defRPr>
            </a:pPr>
            <a:r>
              <a:t>6 categories: Meals,</a:t>
            </a:r>
            <a:br/>
            <a:r>
              <a:t>Medications, Vitals,</a:t>
            </a:r>
            <a:br/>
            <a:r>
              <a:t>Activities, Symptoms, Mood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27432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94A3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7560" y="1371600"/>
            <a:ext cx="2743200" cy="3474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343400" y="1554480"/>
            <a:ext cx="731520" cy="731520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4688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8B5CF6"/>
                </a:solidFill>
                <a:latin typeface="Calibri"/>
              </a:defRPr>
            </a:pPr>
            <a:r>
              <a:t>AI Processing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2926080"/>
            <a:ext cx="2468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  <a:latin typeface="Calibri"/>
              </a:defRPr>
            </a:pPr>
            <a:r>
              <a:t>Health risk prediction</a:t>
            </a:r>
            <a:br/>
            <a:r>
              <a:t>Gemini narrative report</a:t>
            </a:r>
            <a:br/>
            <a:r>
              <a:t>Diet recommendation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27432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94A3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1371600"/>
            <a:ext cx="2743200" cy="3474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8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7315200" y="1554480"/>
            <a:ext cx="731520" cy="731520"/>
          </a:xfrm>
          <a:prstGeom prst="ellipse">
            <a:avLst/>
          </a:prstGeom>
          <a:solidFill>
            <a:srgbClr val="38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24688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882F6"/>
                </a:solidFill>
                <a:latin typeface="Calibri"/>
              </a:defRPr>
            </a:pPr>
            <a:r>
              <a:t>Team Leader 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2926080"/>
            <a:ext cx="2468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  <a:latin typeface="Calibri"/>
              </a:defRPr>
            </a:pPr>
            <a:r>
              <a:t>Pending queue</a:t>
            </a:r>
            <a:br/>
            <a:r>
              <a:t>Approve ✅ or</a:t>
            </a:r>
            <a:br/>
            <a:r>
              <a:t>Reject ❌ with reason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27432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94A3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81160" y="1371600"/>
            <a:ext cx="2743200" cy="3474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0287000" y="1554480"/>
            <a:ext cx="731520" cy="73152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0" y="24688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59E0B"/>
                </a:solidFill>
                <a:latin typeface="Calibri"/>
              </a:defRPr>
            </a:pPr>
            <a:r>
              <a:t>Notifications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0" y="2926080"/>
            <a:ext cx="2468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  <a:latin typeface="Calibri"/>
              </a:defRPr>
            </a:pPr>
            <a:r>
              <a:t>Approval → Employee + Family</a:t>
            </a:r>
            <a:br/>
            <a:r>
              <a:t>High Risk → All stakeholders</a:t>
            </a:r>
            <a:br/>
            <a:r>
              <a:t>Real-time via SignalR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2120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  <a:latin typeface="Calibri"/>
              </a:defRPr>
            </a:pPr>
            <a:r>
              <a:t>📊 Health Metric Types:  Meal  •  Medication  •  Activity  •  Symptom  •  Vital  •  Mood</a:t>
            </a:r>
            <a:br/>
            <a:r>
              <a:t>📋 Approval Statuses:   Pending → Approved → Rejected    |    Family sees ONLY approved reports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93B"/>
                </a:solidFill>
                <a:latin typeface="Calibri"/>
              </a:defRPr>
            </a:pPr>
            <a:r>
              <a:t>Real-Time Notifications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rPr dirty="0" err="1"/>
              <a:t>SignalR</a:t>
            </a:r>
            <a:r>
              <a:rPr dirty="0"/>
              <a:t> WebSocket  •  6 Notification Types  •  Multi-Channel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18/25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Section 4 — Backend  |  Abdelrhman Reda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914400"/>
            <a:ext cx="137160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57200" y="1371600"/>
            <a:ext cx="3566160" cy="1554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15087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F4444"/>
                </a:solidFill>
                <a:latin typeface="Calibri"/>
              </a:defRPr>
            </a:pPr>
            <a:r>
              <a:t>🚨  HealthAlert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92024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Calibri"/>
              </a:defRPr>
            </a:pPr>
            <a:r>
              <a:t>Critical vital anomaly detected by 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371600"/>
            <a:ext cx="3566160" cy="1554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34840" y="15087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2C55E"/>
                </a:solidFill>
                <a:latin typeface="Calibri"/>
              </a:defRPr>
            </a:pPr>
            <a:r>
              <a:t>✅  ReportApproved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192024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Calibri"/>
              </a:defRPr>
            </a:pPr>
            <a:r>
              <a:t>Daily care report approved by Team Leader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371600"/>
            <a:ext cx="3566160" cy="1554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75320" y="15087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F4444"/>
                </a:solidFill>
                <a:latin typeface="Calibri"/>
              </a:defRPr>
            </a:pPr>
            <a:r>
              <a:t>❌  ReportRejected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192024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Calibri"/>
              </a:defRPr>
            </a:pPr>
            <a:r>
              <a:t>Report needs revision (with reason)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291840"/>
            <a:ext cx="3566160" cy="1554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8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4360" y="34290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882F6"/>
                </a:solidFill>
                <a:latin typeface="Calibri"/>
              </a:defRPr>
            </a:pPr>
            <a:r>
              <a:t>🏠  VisitRequest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384048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Calibri"/>
              </a:defRPr>
            </a:pPr>
            <a:r>
              <a:t>Family visit request submitted/status change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80" y="3291840"/>
            <a:ext cx="3566160" cy="1554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434840" y="34290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8B5CF6"/>
                </a:solidFill>
                <a:latin typeface="Calibri"/>
              </a:defRPr>
            </a:pPr>
            <a:r>
              <a:t>📅  ScheduleChange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384048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Calibri"/>
              </a:defRPr>
            </a:pPr>
            <a:r>
              <a:t>Shift or schedule modification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3291840"/>
            <a:ext cx="3566160" cy="1554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75320" y="34290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475569"/>
                </a:solidFill>
                <a:latin typeface="Calibri"/>
              </a:defRPr>
            </a:pPr>
            <a:r>
              <a:t>📋  General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20" y="384048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Calibri"/>
              </a:defRPr>
            </a:pPr>
            <a:r>
              <a:t>System announcements &amp; information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3949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  <a:latin typeface="Calibri"/>
              </a:defRPr>
            </a:pPr>
            <a:r>
              <a:t>📡 Delivery Channels:  In-App Real-Time (SignalR)  •  Email (SMTP/Gmail)  •  Dashboard Badge Count</a:t>
            </a:r>
            <a:br/>
            <a:r>
              <a:t>🔔 Example:  AI detects High Risk → NotificationService → SignalR push to Employee + TeamLeader + Family + Admin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93B"/>
                </a:solidFill>
                <a:latin typeface="Calibri"/>
              </a:defRPr>
            </a:pPr>
            <a:r>
              <a:t>Visit Management &amp; Email Service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19/25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Section 4 — Backend  |  Abdelrhman Reda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914400"/>
            <a:ext cx="137160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65760" y="1371600"/>
            <a:ext cx="2743200" cy="2560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417320" y="1554480"/>
            <a:ext cx="640080" cy="64008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317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59E0B"/>
                </a:solidFill>
                <a:latin typeface="Calibri"/>
              </a:defRPr>
            </a:pPr>
            <a:r>
              <a:t>Family Requests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74320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  <a:latin typeface="Calibri"/>
              </a:defRPr>
            </a:pPr>
            <a:r>
              <a:t>Select elder</a:t>
            </a:r>
            <a:br/>
            <a:r>
              <a:t>Choose date &amp; time</a:t>
            </a:r>
            <a:br/>
            <a:r>
              <a:t>Specify purpose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23774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94A3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7560" y="1371600"/>
            <a:ext cx="2743200" cy="2560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8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389120" y="1554480"/>
            <a:ext cx="640080" cy="640080"/>
          </a:xfrm>
          <a:prstGeom prst="ellipse">
            <a:avLst/>
          </a:prstGeom>
          <a:solidFill>
            <a:srgbClr val="38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23317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882F6"/>
                </a:solidFill>
                <a:latin typeface="Calibri"/>
              </a:defRPr>
            </a:pPr>
            <a:r>
              <a:t>Review Queue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274320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  <a:latin typeface="Calibri"/>
              </a:defRPr>
            </a:pPr>
            <a:r>
              <a:t>Team Leader or Admin</a:t>
            </a:r>
            <a:br/>
            <a:r>
              <a:t>reviews requests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23774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94A3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1371600"/>
            <a:ext cx="2743200" cy="2560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7360920" y="1554480"/>
            <a:ext cx="640080" cy="64008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3317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D9488"/>
                </a:solidFill>
                <a:latin typeface="Calibri"/>
              </a:defRPr>
            </a:pPr>
            <a:r>
              <a:t>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74320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  <a:latin typeface="Calibri"/>
              </a:defRPr>
            </a:pPr>
            <a:r>
              <a:t>Approve  ✅</a:t>
            </a:r>
            <a:br/>
            <a:r>
              <a:t>Reject  ❌</a:t>
            </a:r>
            <a:br/>
            <a:r>
              <a:t>Cancel  🚫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23774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94A3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81160" y="1371600"/>
            <a:ext cx="2743200" cy="2560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0332720" y="1554480"/>
            <a:ext cx="640080" cy="640080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72600" y="23317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2C55E"/>
                </a:solidFill>
                <a:latin typeface="Calibri"/>
              </a:defRPr>
            </a:pPr>
            <a:r>
              <a:t>Completed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72600" y="274320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  <a:latin typeface="Calibri"/>
              </a:defRPr>
            </a:pPr>
            <a:r>
              <a:t>Visit conducted</a:t>
            </a:r>
            <a:br/>
            <a:r>
              <a:t>Status updated</a:t>
            </a:r>
            <a:br/>
            <a:r>
              <a:t>All parties notified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4297680"/>
            <a:ext cx="112471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57200" y="4297680"/>
            <a:ext cx="11247120" cy="54864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0080" y="443484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75569"/>
                </a:solidFill>
                <a:latin typeface="Calibri"/>
              </a:defRPr>
            </a:pPr>
            <a:r>
              <a:t>📧 Email Notification Service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400" b="0">
                <a:solidFill>
                  <a:srgbClr val="475569"/>
                </a:solidFill>
                <a:latin typeface="Calibri"/>
              </a:defRPr>
            </a:pPr>
            <a:r>
              <a:t>• SMTP Provider: Gmail  •  From: Sanad Elder Care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400" b="0">
                <a:solidFill>
                  <a:srgbClr val="475569"/>
                </a:solidFill>
                <a:latin typeface="Calibri"/>
              </a:defRPr>
            </a:pPr>
            <a:r>
              <a:t>• Triggers: Password reset  •  Critical health alerts  •  Visit request updates  •  Report status changes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400" b="0">
                <a:solidFill>
                  <a:srgbClr val="475569"/>
                </a:solidFill>
                <a:latin typeface="Calibri"/>
              </a:defRPr>
            </a:pPr>
            <a:r>
              <a:t>• Template-based emails with professional branding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82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394960" y="1371600"/>
            <a:ext cx="1371600" cy="13716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Frontend UI/UX &amp; Dashboards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9319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CFBF1"/>
                </a:solidFill>
                <a:latin typeface="Calibri"/>
              </a:defRPr>
            </a:pPr>
            <a:r>
              <a:t>React 19  •  42+ Routes  •  4 Role-Based Portals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8463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59E0B"/>
                </a:solidFill>
                <a:latin typeface="Calibri"/>
              </a:defRPr>
            </a:pPr>
            <a:r>
              <a:t>Presented by: Mahmoud Mohammed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5669280"/>
            <a:ext cx="393192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93B"/>
                </a:solidFill>
                <a:latin typeface="Calibri"/>
              </a:defRPr>
            </a:pPr>
            <a:r>
              <a:t>Frontend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4183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rPr dirty="0"/>
              <a:t>React 19 + Vite 8  •  Component-Based  •  42+ Routes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21/25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Section 5 — Frontend  |  Mahmoud Mohammed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914400"/>
            <a:ext cx="137160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57200" y="1280160"/>
            <a:ext cx="548640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5486400" cy="54864"/>
          </a:xfrm>
          <a:prstGeom prst="rect">
            <a:avLst/>
          </a:prstGeom>
          <a:solidFill>
            <a:srgbClr val="38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14173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82F6"/>
                </a:solidFill>
                <a:latin typeface="Calibri"/>
              </a:defRPr>
            </a:pPr>
            <a:r>
              <a:rPr dirty="0"/>
              <a:t>🗂️ Code Organization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rPr dirty="0"/>
              <a:t>• </a:t>
            </a:r>
            <a:r>
              <a:rPr dirty="0" err="1"/>
              <a:t>src</a:t>
            </a:r>
            <a:r>
              <a:rPr dirty="0"/>
              <a:t>/pages/ — Role-specific pages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rPr dirty="0"/>
              <a:t>•   ├── admin/       (11 pages)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rPr dirty="0"/>
              <a:t>•   ├── employee/   (10 pages)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rPr dirty="0"/>
              <a:t>•   ├── </a:t>
            </a:r>
            <a:r>
              <a:rPr dirty="0" err="1"/>
              <a:t>teamleader</a:t>
            </a:r>
            <a:r>
              <a:rPr dirty="0"/>
              <a:t>/ (12 pages)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rPr dirty="0"/>
              <a:t>•   └── family/        (9 pages)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rPr dirty="0"/>
              <a:t>• </a:t>
            </a:r>
            <a:r>
              <a:rPr dirty="0" err="1"/>
              <a:t>src</a:t>
            </a:r>
            <a:r>
              <a:rPr dirty="0"/>
              <a:t>/components/ — Reusable UI components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rPr dirty="0"/>
              <a:t>• </a:t>
            </a:r>
            <a:r>
              <a:rPr dirty="0" err="1"/>
              <a:t>src</a:t>
            </a:r>
            <a:r>
              <a:rPr dirty="0"/>
              <a:t>/contexts/ — </a:t>
            </a:r>
            <a:r>
              <a:rPr dirty="0" err="1"/>
              <a:t>AuthContext</a:t>
            </a:r>
            <a:r>
              <a:rPr dirty="0"/>
              <a:t> (global state)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rPr dirty="0"/>
              <a:t>• </a:t>
            </a:r>
            <a:r>
              <a:rPr dirty="0" err="1"/>
              <a:t>src</a:t>
            </a:r>
            <a:r>
              <a:rPr dirty="0"/>
              <a:t>/services/ — Axios API service layer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rPr dirty="0"/>
              <a:t>• </a:t>
            </a:r>
            <a:r>
              <a:rPr dirty="0" err="1"/>
              <a:t>src</a:t>
            </a:r>
            <a:r>
              <a:rPr dirty="0"/>
              <a:t>/layouts/ — 4 role-specific layouts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rPr dirty="0"/>
              <a:t>• </a:t>
            </a:r>
            <a:r>
              <a:rPr dirty="0" err="1"/>
              <a:t>src</a:t>
            </a:r>
            <a:r>
              <a:rPr dirty="0"/>
              <a:t>/</a:t>
            </a:r>
            <a:r>
              <a:rPr dirty="0" err="1"/>
              <a:t>ProtectedRoutes</a:t>
            </a:r>
            <a:r>
              <a:rPr dirty="0"/>
              <a:t>/ — Route guards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280160"/>
            <a:ext cx="548640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17920" y="1280160"/>
            <a:ext cx="5486400" cy="54864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0" y="14173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D9488"/>
                </a:solidFill>
                <a:latin typeface="Calibri"/>
              </a:defRPr>
            </a:pPr>
            <a:r>
              <a:rPr dirty="0"/>
              <a:t>⚛️ Key Architecture Decisions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rPr dirty="0"/>
              <a:t>• React Router 7 with nested layouts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rPr dirty="0"/>
              <a:t>• </a:t>
            </a:r>
            <a:r>
              <a:rPr dirty="0" err="1"/>
              <a:t>TanStack</a:t>
            </a:r>
            <a:r>
              <a:rPr dirty="0"/>
              <a:t> React Query for server state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rPr dirty="0"/>
              <a:t>• React Hook Form + Zod for validation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rPr dirty="0"/>
              <a:t>• Axios interceptors for JWT tokens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rPr dirty="0"/>
              <a:t>• </a:t>
            </a:r>
            <a:r>
              <a:rPr dirty="0" err="1"/>
              <a:t>HeroUI</a:t>
            </a:r>
            <a:r>
              <a:rPr dirty="0"/>
              <a:t> for consistent component design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rPr dirty="0"/>
              <a:t>• Framer Motion for smooth animations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rPr dirty="0"/>
              <a:t>• Recharts for data visualization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rPr dirty="0"/>
              <a:t>• html2pdf.js for PDF export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rPr dirty="0"/>
              <a:t>• xlsx for Excel data export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5120640"/>
            <a:ext cx="1124712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57200" y="5120640"/>
            <a:ext cx="1124712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525780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  <a:latin typeface="Calibri"/>
              </a:defRPr>
            </a:pPr>
            <a:r>
              <a:t>🧭 Routing &amp; Guards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400" b="0">
                <a:solidFill>
                  <a:srgbClr val="475569"/>
                </a:solidFill>
                <a:latin typeface="Calibri"/>
              </a:defRPr>
            </a:pPr>
            <a:r>
              <a:t>• ProtectedRoutes — checks role before rendering  •  ProtectedAuthRoutes — redirects logged-in users from auth pages  •  42+ unique routes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93B"/>
                </a:solidFill>
                <a:latin typeface="Calibri"/>
              </a:defRPr>
            </a:pPr>
            <a:r>
              <a:t>Admin &amp; Team Leader Dashboards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22/25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Section 5 — Frontend  |  Mahmoud Mohammed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914400"/>
            <a:ext cx="137160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57200" y="1280160"/>
            <a:ext cx="548640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280160"/>
            <a:ext cx="5486400" cy="54864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4173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D9488"/>
                </a:solidFill>
                <a:latin typeface="Calibri"/>
              </a:defRPr>
            </a:pPr>
            <a:r>
              <a:rPr dirty="0"/>
              <a:t>👑 Admin Portal — 11 Pages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rPr dirty="0"/>
              <a:t>• </a:t>
            </a:r>
            <a:r>
              <a:rPr dirty="0" err="1"/>
              <a:t>AdminDashboard</a:t>
            </a:r>
            <a:r>
              <a:rPr dirty="0"/>
              <a:t> — System-wide statistics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rPr dirty="0"/>
              <a:t>• </a:t>
            </a:r>
            <a:r>
              <a:rPr dirty="0" err="1"/>
              <a:t>UsersManagement</a:t>
            </a:r>
            <a:r>
              <a:rPr dirty="0"/>
              <a:t> — CRUD for all users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rPr dirty="0"/>
              <a:t>• </a:t>
            </a:r>
            <a:r>
              <a:rPr dirty="0" err="1"/>
              <a:t>UserDetails</a:t>
            </a:r>
            <a:r>
              <a:rPr dirty="0"/>
              <a:t> — Individual user profiles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rPr dirty="0"/>
              <a:t>• </a:t>
            </a:r>
            <a:r>
              <a:rPr dirty="0" err="1"/>
              <a:t>EldersManagement</a:t>
            </a:r>
            <a:r>
              <a:rPr dirty="0"/>
              <a:t> — Resident CRUD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rPr dirty="0"/>
              <a:t>• </a:t>
            </a:r>
            <a:r>
              <a:rPr dirty="0" err="1"/>
              <a:t>ElderDetails</a:t>
            </a:r>
            <a:r>
              <a:rPr dirty="0"/>
              <a:t> — Individual resident view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rPr dirty="0"/>
              <a:t>• Reports — All daily reports overview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rPr dirty="0"/>
              <a:t>• </a:t>
            </a:r>
            <a:r>
              <a:rPr dirty="0" err="1"/>
              <a:t>AdminStatistics</a:t>
            </a:r>
            <a:r>
              <a:rPr dirty="0"/>
              <a:t> — Analytics &amp; charts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rPr dirty="0"/>
              <a:t>• </a:t>
            </a:r>
            <a:r>
              <a:rPr dirty="0" err="1"/>
              <a:t>AuditLogs</a:t>
            </a:r>
            <a:r>
              <a:rPr dirty="0"/>
              <a:t> — Full action trail viewer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rPr dirty="0"/>
              <a:t>• Visits — Visit request oversight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rPr dirty="0"/>
              <a:t>• Notifications — Alert center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rPr dirty="0"/>
              <a:t>• </a:t>
            </a:r>
            <a:r>
              <a:rPr dirty="0" err="1"/>
              <a:t>AdminProfile</a:t>
            </a:r>
            <a:r>
              <a:rPr dirty="0"/>
              <a:t> — Profile management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280160"/>
            <a:ext cx="548640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280160"/>
            <a:ext cx="5486400" cy="54864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14173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8B5CF6"/>
                </a:solidFill>
                <a:latin typeface="Calibri"/>
              </a:defRPr>
            </a:pPr>
            <a:r>
              <a:t>🎖️ Team Leader Portal — 12 Pages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• TeamLeaderDashboard — Team metrics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• TeamLeaderReports — Approve/Reject queue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• ViewReport — Detailed report review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• TeamLeaderResidents — Resident overview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• Employees — Team member list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• EmployeePerformance — Performance metrics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• Schedules — Shift schedule management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• CreateSchedule — New schedule creation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• Attendance — Check-in/out tracking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• Visits — Visit request management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• Notifications — Alert center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93B"/>
                </a:solidFill>
                <a:latin typeface="Calibri"/>
              </a:defRPr>
            </a:pPr>
            <a:r>
              <a:t>Employee &amp; Family Portals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23/25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Section 5 — Frontend  |  Mahmoud Mohammed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914400"/>
            <a:ext cx="137160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57200" y="1280160"/>
            <a:ext cx="548640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280160"/>
            <a:ext cx="5486400" cy="54864"/>
          </a:xfrm>
          <a:prstGeom prst="rect">
            <a:avLst/>
          </a:prstGeom>
          <a:solidFill>
            <a:srgbClr val="38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4173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82F6"/>
                </a:solidFill>
                <a:latin typeface="Calibri"/>
              </a:defRPr>
            </a:pPr>
            <a:r>
              <a:t>👨‍⚕️ Employee Portal — 10 Pages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• Dashboard — Assigned residents overview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• Residents — Full resident list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• ResidentDetails — Health history &amp; details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• DailyReports — Report history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• CreateReport — Rich form (6 metric types)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• ViewReport — Detailed report with AI insights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• Schedule — Personal shift schedule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• Tasks — Task management board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• Notifications — Real-time alerts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• Profile — Personal settings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280160"/>
            <a:ext cx="548640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280160"/>
            <a:ext cx="548640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14173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  <a:latin typeface="Calibri"/>
              </a:defRPr>
            </a:pPr>
            <a:r>
              <a:t>👨‍👩‍👧 Family Portal — 9 Pages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• Home — Connected elderly overview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• LovedOnes — Linked elderly list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• ElderDetail — Health info, conditions, charts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• DailyUpdates — Approved reports feed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• Visits — Request &amp; manage visits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• ContactStaffModal — Direct staff contact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• Messages — Communication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• Notifications — Real-time health alerts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• Profile — Personal settings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93B"/>
                </a:solidFill>
                <a:latin typeface="Calibri"/>
              </a:defRPr>
            </a:pPr>
            <a:r>
              <a:t>Key UI/UX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24/25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Section 5 — Frontend  |  Mahmoud Mohammed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914400"/>
            <a:ext cx="137160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57200" y="1280160"/>
            <a:ext cx="54864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280160"/>
            <a:ext cx="5486400" cy="54864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4173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D9488"/>
                </a:solidFill>
                <a:latin typeface="Calibri"/>
              </a:defRPr>
            </a:pPr>
            <a:r>
              <a:t>📊 Data Visualization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400" b="0">
                <a:solidFill>
                  <a:srgbClr val="475569"/>
                </a:solidFill>
                <a:latin typeface="Calibri"/>
              </a:defRPr>
            </a:pPr>
            <a:r>
              <a:t>• Recharts: line, bar, pie charts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400" b="0">
                <a:solidFill>
                  <a:srgbClr val="475569"/>
                </a:solidFill>
                <a:latin typeface="Calibri"/>
              </a:defRPr>
            </a:pPr>
            <a:r>
              <a:t>• Health trend tracking over time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400" b="0">
                <a:solidFill>
                  <a:srgbClr val="475569"/>
                </a:solidFill>
                <a:latin typeface="Calibri"/>
              </a:defRPr>
            </a:pPr>
            <a:r>
              <a:t>• Employee performance metrics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400" b="0">
                <a:solidFill>
                  <a:srgbClr val="475569"/>
                </a:solidFill>
                <a:latin typeface="Calibri"/>
              </a:defRPr>
            </a:pPr>
            <a:r>
              <a:t>• System-wide statistics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280160"/>
            <a:ext cx="54864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280160"/>
            <a:ext cx="5486400" cy="54864"/>
          </a:xfrm>
          <a:prstGeom prst="rect">
            <a:avLst/>
          </a:prstGeom>
          <a:solidFill>
            <a:srgbClr val="38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14173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882F6"/>
                </a:solidFill>
                <a:latin typeface="Calibri"/>
              </a:defRPr>
            </a:pPr>
            <a:r>
              <a:t>🔍 Smart Forms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400" b="0">
                <a:solidFill>
                  <a:srgbClr val="475569"/>
                </a:solidFill>
                <a:latin typeface="Calibri"/>
              </a:defRPr>
            </a:pPr>
            <a:r>
              <a:t>• React Hook Form + Zod validation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400" b="0">
                <a:solidFill>
                  <a:srgbClr val="475569"/>
                </a:solidFill>
                <a:latin typeface="Calibri"/>
              </a:defRPr>
            </a:pPr>
            <a:r>
              <a:t>• Real-time field validation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400" b="0">
                <a:solidFill>
                  <a:srgbClr val="475569"/>
                </a:solidFill>
                <a:latin typeface="Calibri"/>
              </a:defRPr>
            </a:pPr>
            <a:r>
              <a:t>• Dynamic fields by metric type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400" b="0">
                <a:solidFill>
                  <a:srgbClr val="475569"/>
                </a:solidFill>
                <a:latin typeface="Calibri"/>
              </a:defRPr>
            </a:pPr>
            <a:r>
              <a:t>• 6-category daily report form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840480"/>
            <a:ext cx="54864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" y="3840480"/>
            <a:ext cx="5486400" cy="54864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39776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8B5CF6"/>
                </a:solidFill>
                <a:latin typeface="Calibri"/>
              </a:defRPr>
            </a:pPr>
            <a:r>
              <a:t>🎨 Design Quality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400" b="0">
                <a:solidFill>
                  <a:srgbClr val="475569"/>
                </a:solidFill>
                <a:latin typeface="Calibri"/>
              </a:defRPr>
            </a:pPr>
            <a:r>
              <a:t>• HeroUI consistent components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400" b="0">
                <a:solidFill>
                  <a:srgbClr val="475569"/>
                </a:solidFill>
                <a:latin typeface="Calibri"/>
              </a:defRPr>
            </a:pPr>
            <a:r>
              <a:t>• Framer Motion animations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400" b="0">
                <a:solidFill>
                  <a:srgbClr val="475569"/>
                </a:solidFill>
                <a:latin typeface="Calibri"/>
              </a:defRPr>
            </a:pPr>
            <a:r>
              <a:t>• Responsive desktop &amp; tablet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400" b="0">
                <a:solidFill>
                  <a:srgbClr val="475569"/>
                </a:solidFill>
                <a:latin typeface="Calibri"/>
              </a:defRPr>
            </a:pPr>
            <a:r>
              <a:t>• Toast notifications &amp; loading states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840480"/>
            <a:ext cx="54864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17920" y="3840480"/>
            <a:ext cx="548640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0" y="39776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59E0B"/>
                </a:solidFill>
                <a:latin typeface="Calibri"/>
              </a:defRPr>
            </a:pPr>
            <a:r>
              <a:t>📄 Export Capabilities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400" b="0">
                <a:solidFill>
                  <a:srgbClr val="475569"/>
                </a:solidFill>
                <a:latin typeface="Calibri"/>
              </a:defRPr>
            </a:pPr>
            <a:r>
              <a:t>• html2pdf.js for PDF reports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400" b="0">
                <a:solidFill>
                  <a:srgbClr val="475569"/>
                </a:solidFill>
                <a:latin typeface="Calibri"/>
              </a:defRPr>
            </a:pPr>
            <a:r>
              <a:t>• xlsx for Excel data export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400" b="0">
                <a:solidFill>
                  <a:srgbClr val="475569"/>
                </a:solidFill>
                <a:latin typeface="Calibri"/>
              </a:defRPr>
            </a:pPr>
            <a:r>
              <a:t>• Printable report formatting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400" b="0">
                <a:solidFill>
                  <a:srgbClr val="475569"/>
                </a:solidFill>
                <a:latin typeface="Calibri"/>
              </a:defRPr>
            </a:pPr>
            <a:r>
              <a:t>• Professional clinical layouts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394960" y="1371600"/>
            <a:ext cx="1371600" cy="137160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Testing, Results &amp;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9319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CFBF1"/>
                </a:solidFill>
                <a:latin typeface="Calibri"/>
              </a:defRPr>
            </a:pPr>
            <a:r>
              <a:t>Quality Assurance  •  Achievements  •  Future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8463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59E0B"/>
                </a:solidFill>
                <a:latin typeface="Calibri"/>
              </a:defRPr>
            </a:pPr>
            <a:r>
              <a:t>Presented by: Abdallah Essam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5669280"/>
            <a:ext cx="3931920" cy="54864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93B"/>
                </a:solidFill>
                <a:latin typeface="Calibri"/>
              </a:defRPr>
            </a:pPr>
            <a:r>
              <a:t>Testing Strategy &amp; Quality Assurance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26/25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Section 6 — Results  |  Abdallah Essam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914400"/>
            <a:ext cx="137160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57200" y="1280160"/>
            <a:ext cx="54864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280160"/>
            <a:ext cx="5486400" cy="54864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4173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8B5CF6"/>
                </a:solidFill>
                <a:latin typeface="Calibri"/>
              </a:defRPr>
            </a:pPr>
            <a:r>
              <a:t>🧪 AI Service Testing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• test_ml.py — 18KB comprehensive ML tests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• test_load.py — API load/stress testing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• Health prediction edge cases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• Allergen filtering validation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• Clinical override verification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280160"/>
            <a:ext cx="54864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280160"/>
            <a:ext cx="5486400" cy="54864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14173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D9488"/>
                </a:solidFill>
                <a:latin typeface="Calibri"/>
              </a:defRPr>
            </a:pPr>
            <a:r>
              <a:t>🔬 Backend Testing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• Swagger/OpenAPI endpoint testing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• Manual integration testing (10 controllers)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• Role-based authorization checks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• JWT token flow validation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• SignalR connection testing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840480"/>
            <a:ext cx="54864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" y="3840480"/>
            <a:ext cx="5486400" cy="54864"/>
          </a:xfrm>
          <a:prstGeom prst="rect">
            <a:avLst/>
          </a:prstGeom>
          <a:solidFill>
            <a:srgbClr val="38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39776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82F6"/>
                </a:solidFill>
                <a:latin typeface="Calibri"/>
              </a:defRPr>
            </a:pPr>
            <a:r>
              <a:t>🎨 Frontend Testing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• Manual testing: 42+ routes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• Cross-browser: Chrome, Firefox, Edge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• Responsive design verification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• Form validation edge cases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• Protected route guard testing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840480"/>
            <a:ext cx="54864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17920" y="3840480"/>
            <a:ext cx="548640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0" y="39776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  <a:latin typeface="Calibri"/>
              </a:defRPr>
            </a:pPr>
            <a:r>
              <a:t>📊 ML Model Evaluation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• Stratified 5-fold Cross Validation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• Metrics: Accuracy, F1-Score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• Confusion matrix analysis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• Feature importance extraction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• Best model auto-selection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93B"/>
                </a:solidFill>
                <a:latin typeface="Calibri"/>
              </a:defRPr>
            </a:pPr>
            <a:r>
              <a:t>Key Results &amp; Achievements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27/25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Section 6 — Results  |  Abdallah Essam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914400"/>
            <a:ext cx="137160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280160"/>
            <a:ext cx="54864" cy="347472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234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293B"/>
                </a:solidFill>
                <a:latin typeface="Calibri"/>
              </a:defRPr>
            </a:pPr>
            <a:r>
              <a:t>✅  42+ frontend routes across 4 role-based dashboards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783080"/>
            <a:ext cx="54864" cy="347472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1737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293B"/>
                </a:solidFill>
                <a:latin typeface="Calibri"/>
              </a:defRPr>
            </a:pPr>
            <a:r>
              <a:t>✅  10 API controllers + 10 backend services (370KB+ logic)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286000"/>
            <a:ext cx="54864" cy="347472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2240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293B"/>
                </a:solidFill>
                <a:latin typeface="Calibri"/>
              </a:defRPr>
            </a:pPr>
            <a:r>
              <a:t>✅  11 database entities with full relational integrity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788920"/>
            <a:ext cx="54864" cy="34747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2743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293B"/>
                </a:solidFill>
                <a:latin typeface="Calibri"/>
              </a:defRPr>
            </a:pPr>
            <a:r>
              <a:t>🤖  Health risk model: 4 algorithms compared, best auto-selected by F1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291840"/>
            <a:ext cx="54864" cy="34747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3246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293B"/>
                </a:solidFill>
                <a:latin typeface="Calibri"/>
              </a:defRPr>
            </a:pPr>
            <a:r>
              <a:t>🤖  Hybrid ML + Clinical Rules = zero missed emergencies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794760"/>
            <a:ext cx="54864" cy="34747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3749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293B"/>
                </a:solidFill>
                <a:latin typeface="Calibri"/>
              </a:defRPr>
            </a:pPr>
            <a:r>
              <a:t>🤖  Diet recommender: 3 classifiers, allergy-aware, dynamic retraining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297680"/>
            <a:ext cx="54864" cy="34747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8680" y="4251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293B"/>
                </a:solidFill>
                <a:latin typeface="Calibri"/>
              </a:defRPr>
            </a:pPr>
            <a:r>
              <a:t>🤖  Gemini AI: auto-generated clinical narratives + pattern detection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4800600"/>
            <a:ext cx="54864" cy="347472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8680" y="4754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293B"/>
                </a:solidFill>
                <a:latin typeface="Calibri"/>
              </a:defRPr>
            </a:pPr>
            <a:r>
              <a:t>🔐  JWT auth + RBAC + API key + account lockout + audit logging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303520"/>
            <a:ext cx="54864" cy="347472"/>
          </a:xfrm>
          <a:prstGeom prst="rect">
            <a:avLst/>
          </a:prstGeom>
          <a:solidFill>
            <a:srgbClr val="38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68680" y="5257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293B"/>
                </a:solidFill>
                <a:latin typeface="Calibri"/>
              </a:defRPr>
            </a:pPr>
            <a:r>
              <a:t>⚡  Real-time SignalR notifications: 6 types, multi-channel delivery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5806440"/>
            <a:ext cx="54864" cy="34747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68680" y="5760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293B"/>
                </a:solidFill>
                <a:latin typeface="Calibri"/>
              </a:defRPr>
            </a:pPr>
            <a:r>
              <a:t>📄  PDF &amp; Excel export, email notifications, visit management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93B"/>
                </a:solidFill>
                <a:latin typeface="Calibri"/>
              </a:defRPr>
            </a:pPr>
            <a:r>
              <a:t>Future Work &amp;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28/25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Section 6 — Results  |  Abdallah Essam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914400"/>
            <a:ext cx="137160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57200" y="1280160"/>
            <a:ext cx="54864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280160"/>
            <a:ext cx="5486400" cy="54864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4173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8B5CF6"/>
                </a:solidFill>
                <a:latin typeface="Calibri"/>
              </a:defRPr>
            </a:pPr>
            <a:r>
              <a:rPr dirty="0"/>
              <a:t>🔮 Phase 2 — AI Enhancements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400" b="0">
                <a:solidFill>
                  <a:srgbClr val="475569"/>
                </a:solidFill>
                <a:latin typeface="Calibri"/>
              </a:defRPr>
            </a:pPr>
            <a:r>
              <a:rPr dirty="0"/>
              <a:t>• YOLOv8-Pose for real fall detection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400" b="0">
                <a:solidFill>
                  <a:srgbClr val="475569"/>
                </a:solidFill>
                <a:latin typeface="Calibri"/>
              </a:defRPr>
            </a:pPr>
            <a:r>
              <a:rPr dirty="0"/>
              <a:t>• Deep learning for vital anomaly detection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400" b="0">
                <a:solidFill>
                  <a:srgbClr val="475569"/>
                </a:solidFill>
                <a:latin typeface="Calibri"/>
              </a:defRPr>
            </a:pPr>
            <a:r>
              <a:rPr dirty="0"/>
              <a:t>• NLP sentiment analysis from notes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400" b="0">
                <a:solidFill>
                  <a:srgbClr val="475569"/>
                </a:solidFill>
                <a:latin typeface="Calibri"/>
              </a:defRPr>
            </a:pPr>
            <a:r>
              <a:rPr dirty="0"/>
              <a:t>• Medication interaction warnings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234440"/>
            <a:ext cx="54864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280160"/>
            <a:ext cx="5486400" cy="54864"/>
          </a:xfrm>
          <a:prstGeom prst="rect">
            <a:avLst/>
          </a:prstGeom>
          <a:solidFill>
            <a:srgbClr val="38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14173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82F6"/>
                </a:solidFill>
                <a:latin typeface="Calibri"/>
              </a:defRPr>
            </a:pPr>
            <a:r>
              <a:t>📱 Phase 3 — Mobile &amp; IoT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400" b="0">
                <a:solidFill>
                  <a:srgbClr val="475569"/>
                </a:solidFill>
                <a:latin typeface="Calibri"/>
              </a:defRPr>
            </a:pPr>
            <a:r>
              <a:t>• React Native / Flutter mobile app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400" b="0">
                <a:solidFill>
                  <a:srgbClr val="475569"/>
                </a:solidFill>
                <a:latin typeface="Calibri"/>
              </a:defRPr>
            </a:pPr>
            <a:r>
              <a:t>• IoT wearable integration (smartwatch)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400" b="0">
                <a:solidFill>
                  <a:srgbClr val="475569"/>
                </a:solidFill>
                <a:latin typeface="Calibri"/>
              </a:defRPr>
            </a:pPr>
            <a:r>
              <a:t>• Automated vital sign collection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400" b="0">
                <a:solidFill>
                  <a:srgbClr val="475569"/>
                </a:solidFill>
                <a:latin typeface="Calibri"/>
              </a:defRPr>
            </a:pPr>
            <a:r>
              <a:t>• Firebase push notifications (FCM)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840480"/>
            <a:ext cx="54864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" y="3840480"/>
            <a:ext cx="5486400" cy="54864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3977640"/>
            <a:ext cx="5120640" cy="10874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D9488"/>
                </a:solidFill>
                <a:latin typeface="Calibri"/>
              </a:defRPr>
            </a:pPr>
            <a:r>
              <a:rPr dirty="0"/>
              <a:t>🏥 Phase 4 — Enterprise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400" b="0">
                <a:solidFill>
                  <a:srgbClr val="475569"/>
                </a:solidFill>
                <a:latin typeface="Calibri"/>
              </a:defRPr>
            </a:pPr>
            <a:r>
              <a:rPr dirty="0"/>
              <a:t>• Multi-facility SaaS support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400" b="0">
                <a:solidFill>
                  <a:srgbClr val="475569"/>
                </a:solidFill>
                <a:latin typeface="Calibri"/>
              </a:defRPr>
            </a:pPr>
            <a:r>
              <a:rPr dirty="0"/>
              <a:t>• Doctor/physician role + prescriptions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400" b="0">
                <a:solidFill>
                  <a:srgbClr val="475569"/>
                </a:solidFill>
                <a:latin typeface="Calibri"/>
              </a:defRPr>
            </a:pPr>
            <a:r>
              <a:rPr dirty="0"/>
              <a:t>• Telemedicine video calls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840480"/>
            <a:ext cx="54864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17920" y="3840480"/>
            <a:ext cx="548640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0" y="39776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  <a:latin typeface="Calibri"/>
              </a:defRPr>
            </a:pPr>
            <a:r>
              <a:rPr dirty="0"/>
              <a:t>📊 Phase 5 — Analytics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400" b="0">
                <a:solidFill>
                  <a:srgbClr val="475569"/>
                </a:solidFill>
                <a:latin typeface="Calibri"/>
              </a:defRPr>
            </a:pPr>
            <a:r>
              <a:rPr dirty="0"/>
              <a:t>• Long-term health trend prediction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400" b="0">
                <a:solidFill>
                  <a:srgbClr val="475569"/>
                </a:solidFill>
                <a:latin typeface="Calibri"/>
              </a:defRPr>
            </a:pPr>
            <a:r>
              <a:rPr dirty="0"/>
              <a:t>• Staff workload optimization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400" b="0">
                <a:solidFill>
                  <a:srgbClr val="475569"/>
                </a:solidFill>
                <a:latin typeface="Calibri"/>
              </a:defRPr>
            </a:pPr>
            <a:r>
              <a:rPr dirty="0"/>
              <a:t>• Predictive scheduling by need</a:t>
            </a:r>
          </a:p>
          <a:p>
            <a:pPr algn="l">
              <a:spcBef>
                <a:spcPts val="200"/>
              </a:spcBef>
              <a:spcAft>
                <a:spcPts val="100"/>
              </a:spcAft>
              <a:defRPr sz="1400" b="0">
                <a:solidFill>
                  <a:srgbClr val="475569"/>
                </a:solidFill>
                <a:latin typeface="Calibri"/>
              </a:defRPr>
            </a:pPr>
            <a:r>
              <a:rPr dirty="0"/>
              <a:t>• Advanced reporting &amp; BI dashboards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137160" cy="3200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182880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FBF1"/>
                </a:solidFill>
                <a:latin typeface="Calibri"/>
              </a:defRPr>
            </a:pPr>
            <a:r>
              <a:rPr dirty="0"/>
              <a:t>✓  Predicts health risks BEFORE they become emergencies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233172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FBF1"/>
                </a:solidFill>
                <a:latin typeface="Calibri"/>
              </a:defRPr>
            </a:pPr>
            <a:r>
              <a:t>✓  Personalizes nutrition for each resident's unique needs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283464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FBF1"/>
                </a:solidFill>
                <a:latin typeface="Calibri"/>
              </a:defRPr>
            </a:pPr>
            <a:r>
              <a:t>✓  Connects families with real-time updates and transparency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333756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FBF1"/>
                </a:solidFill>
                <a:latin typeface="Calibri"/>
              </a:defRPr>
            </a:pPr>
            <a:r>
              <a:t>✓  Empowers caregivers with AI-assisted tools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384048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FBF1"/>
                </a:solidFill>
                <a:latin typeface="Calibri"/>
              </a:defRPr>
            </a:pPr>
            <a:r>
              <a:t>✓  Gives management full visibility and control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0" y="4480560"/>
            <a:ext cx="3931920" cy="365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466344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59E0B"/>
                </a:solidFill>
                <a:latin typeface="Calibri"/>
              </a:defRPr>
            </a:pPr>
            <a:r>
              <a:t>Thank You!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3949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94A3B8"/>
                </a:solidFill>
                <a:latin typeface="Calibri"/>
              </a:defRPr>
            </a:pPr>
            <a:r>
              <a:t>Questions &amp; Answers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9436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D9488"/>
                </a:solidFill>
                <a:latin typeface="Calibri"/>
              </a:defRPr>
            </a:pPr>
            <a:r>
              <a:t>Anton Farid  •  Haidy Medhat  •  Maryam Elghazaly  •  Abdelrhman Reda  •  Mahmoud Mohammed  •  Abdallah Essam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0" y="651052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rPr dirty="0"/>
              <a:t>Sanad — Smart Elderly Care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3212</Words>
  <Application>Microsoft Office PowerPoint</Application>
  <PresentationFormat>Widescreen</PresentationFormat>
  <Paragraphs>543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Antoine A Maurice</cp:lastModifiedBy>
  <cp:revision>5</cp:revision>
  <dcterms:created xsi:type="dcterms:W3CDTF">2013-01-27T09:14:16Z</dcterms:created>
  <dcterms:modified xsi:type="dcterms:W3CDTF">2026-06-11T10:44:11Z</dcterms:modified>
  <cp:category/>
</cp:coreProperties>
</file>